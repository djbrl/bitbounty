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93c220b-72a6-2755-140f-50c3528df02f}">
          <p14:sldIdLst>
            <p14:sldId id="256"/>
          </p14:sldIdLst>
        </p14:section>
        <p14:section name="Problème" id="{4d4ebee0-a083-faff-1be8-d224f51a6b19}">
          <p14:sldIdLst>
            <p14:sldId id="257"/>
            <p14:sldId id="258"/>
            <p14:sldId id="259"/>
          </p14:sldIdLst>
        </p14:section>
        <p14:section name="Solution" id="{c63d89b2-0699-9dfb-7ba7-6fce2e55b85d}">
          <p14:sldIdLst>
            <p14:sldId id="260"/>
            <p14:sldId id="261"/>
            <p14:sldId id="262"/>
            <p14:sldId id="263"/>
            <p14:sldId id="264"/>
          </p14:sldIdLst>
        </p14:section>
        <p14:section name="Conclusion" id="{a9721139-dc1f-620e-81cf-8b6b6036fa6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vais vous présenter BitBounty.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Imaginez que vous avez un projet sur GitHub. Il y a beaucoup de problèmes à résoudre, mais pas assez de développeurs pour s'en occuper.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Vous êtes prêt à payer des développeurs pour vous aider, mais payer quelqu'un dans un autre pays est compliqué : factures, virements internationaux, et Stripe ou PayPal ne versent pas d'argent au Sénégal.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l'autre côté, nous avons beaucoup de développeurs talentueux en Afrique qui peuvent faire ce travail, mais qui n'ont pas toujours un moyen simple de se faire payer. C'est exactement le problème que BitBounty veut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BitBounty permet aux projets open source de payer des développeurs pour résoudre leurs problèmes sur GitHub. BitBounty fait le pont entre GitHub, où sont les tâches, et Bitnob, qui s'occupe de l'argent. Laissez-moi vous montrer comment ça marche, en quatre étapes.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D'abord, le propriétaire du projet choisit une tâche et lui donne un prix avec une simple commande : /bounty 10000. Il peut aussi utiliser notre fonctionnalité Price My Backlog : Claude analyse les problèmes du projet et propose ceux qui méritent d'être financés, avec un prix adapté. Ensuite, le propriétaire finance la tâche grâce à Bitnob.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développeur peut alors prendre la tâche avec /claim, travailler dessus et envoyer son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attention : envoyer du code ne suffit pas pour être payé. Claude vérifie le code en fonction des critères de la tâche. Ensuite, le propriétaire du projet garde la décision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Lorsque le code est accepté et fusionné dans le projet, le paiement est automatiquement déclenché. Le développeur reçoit donc son argent grâce à Bitnob, en FCFA sur Wave, quelques minutes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BitBounty apporte trois choses : le propriétaire paie uniquement le travail accepté et fusionné ; chaque tâche terminée devient une preuve du savoir-faire du développeur ; et des agents IA peuvent proposer et financer des tâches, dans le budget fixé par un humain. Grâce à Bitnob, nous facilitons les paiements entre pays. Notre vision est simple : permettre aux développeurs africains de gagner de l'argent grâce à leurs compétences, peu importe où se trouve le propriétaire du projet. Avec BitBounty, vous donnez un prix à vos tâches, vous payez uniquement le travail fusionné, et le développeur est payé lorsque son code est accepté. Merci pour votre attention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_TITLE">
    <p:bg>
      <p:bgPr>
        <a:solidFill>
          <a:srgbClr val="F5F6F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3200" b="1" dirty="0">
                <a:solidFill>
                  <a:schemeClr val="tx1"/>
                </a:solidFill>
                <a:latin typeface="Bricolage Grotesque" pitchFamily="34" charset="0"/>
                <a:ea typeface="Bricolage Grotesque" pitchFamily="34" charset="-122"/>
                <a:cs typeface="Bricolage Grotesque"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TITLE">
    <p:bg>
      <p:bgPr>
        <a:solidFill>
          <a:srgbClr val="0B1F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3200" b="1" dirty="0">
                <a:solidFill>
                  <a:schemeClr val="bg1"/>
                </a:solidFill>
                <a:latin typeface="Bricolage Grotesque" pitchFamily="34" charset="0"/>
                <a:ea typeface="Bricolage Grotesque" pitchFamily="34" charset="-122"/>
                <a:cs typeface="Bricolage Grotesque"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9DC4AE"/>
                </a:solidFill>
                <a:latin typeface="Instrument Sans"/>
                <a:ea typeface="Instrument Sans"/>
                <a:cs typeface="Instrument San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_BLANK">
    <p:bg>
      <p:bgPr>
        <a:solidFill>
          <a:srgbClr val="F5F6F3"/>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K_BLANK">
    <p:bg>
      <p:bgPr>
        <a:solidFill>
          <a:srgbClr val="0B1F1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502920"/>
            <a:ext cx="8229600" cy="1600200"/>
          </a:xfrm>
          <a:prstGeom prst="rect">
            <a:avLst/>
          </a:prstGeom>
          <a:noFill/>
          <a:ln/>
        </p:spPr>
        <p:txBody>
          <a:bodyPr wrap="square" lIns="0" tIns="0" rIns="0" bIns="0" rtlCol="0" anchor="ctr"/>
          <a:lstStyle/>
          <a:p>
            <a:pPr algn="ctr" indent="0" marL="0">
              <a:lnSpc>
                <a:spcPct val="95000"/>
              </a:lnSpc>
              <a:buNone/>
            </a:pPr>
            <a:r>
              <a:rPr lang="en-US" sz="5000" b="1" spc="-50" kern="0" dirty="0">
                <a:solidFill>
                  <a:srgbClr val="0B1F17"/>
                </a:solidFill>
                <a:latin typeface="Bricolage Grotesque" pitchFamily="34" charset="0"/>
                <a:ea typeface="Bricolage Grotesque" pitchFamily="34" charset="-122"/>
                <a:cs typeface="Bricolage Grotesque" pitchFamily="34" charset="-120"/>
              </a:rPr>
              <a:t>Faites-vous </a:t>
            </a:r>
            <a:pPr algn="ctr" indent="0" marL="0">
              <a:lnSpc>
                <a:spcPct val="95000"/>
              </a:lnSpc>
              <a:buNone/>
            </a:pPr>
            <a:r>
              <a:rPr lang="en-US" sz="5000" b="1" spc="-50" kern="0" dirty="0">
                <a:solidFill>
                  <a:srgbClr val="167A45"/>
                </a:solidFill>
                <a:latin typeface="Bricolage Grotesque" pitchFamily="34" charset="0"/>
                <a:ea typeface="Bricolage Grotesque" pitchFamily="34" charset="-122"/>
                <a:cs typeface="Bricolage Grotesque" pitchFamily="34" charset="-120"/>
              </a:rPr>
              <a:t>payer</a:t>
            </a:r>
            <a:endParaRPr lang="en-US" sz="5000" dirty="0"/>
          </a:p>
          <a:p>
            <a:pPr algn="ctr" indent="0" marL="0">
              <a:lnSpc>
                <a:spcPct val="95000"/>
              </a:lnSpc>
              <a:buNone/>
            </a:pPr>
            <a:r>
              <a:rPr lang="en-US" sz="5000" b="1" spc="-50" kern="0" dirty="0">
                <a:solidFill>
                  <a:srgbClr val="0B1F17"/>
                </a:solidFill>
                <a:latin typeface="Bricolage Grotesque" pitchFamily="34" charset="0"/>
                <a:ea typeface="Bricolage Grotesque" pitchFamily="34" charset="-122"/>
                <a:cs typeface="Bricolage Grotesque" pitchFamily="34" charset="-120"/>
              </a:rPr>
              <a:t>pour contribuer.</a:t>
            </a:r>
            <a:endParaRPr lang="en-US" sz="5000" dirty="0"/>
          </a:p>
        </p:txBody>
      </p:sp>
      <p:sp>
        <p:nvSpPr>
          <p:cNvPr id="3" name="Text 1"/>
          <p:cNvSpPr txBox="1"/>
          <p:nvPr/>
        </p:nvSpPr>
        <p:spPr>
          <a:xfrm>
            <a:off x="914400" y="2194560"/>
            <a:ext cx="7315200" cy="411480"/>
          </a:xfrm>
          <a:prstGeom prst="rect">
            <a:avLst/>
          </a:prstGeom>
          <a:noFill/>
          <a:ln/>
        </p:spPr>
        <p:txBody>
          <a:bodyPr wrap="square" lIns="0" tIns="0" rIns="0" bIns="0" rtlCol="0" anchor="ctr"/>
          <a:lstStyle/>
          <a:p>
            <a:pPr algn="ctr" indent="0" marL="0">
              <a:buNone/>
            </a:pPr>
            <a:r>
              <a:rPr lang="en-US" sz="1900" dirty="0">
                <a:solidFill>
                  <a:srgbClr val="2C4337"/>
                </a:solidFill>
                <a:latin typeface="Instrument Sans" pitchFamily="34" charset="0"/>
                <a:ea typeface="Instrument Sans" pitchFamily="34" charset="-122"/>
                <a:cs typeface="Instrument Sans" pitchFamily="34" charset="-120"/>
              </a:rPr>
              <a:t>Réglez une issue GitHub. Recevez des FCFA.</a:t>
            </a:r>
            <a:endParaRPr lang="en-US" sz="1900" dirty="0"/>
          </a:p>
        </p:txBody>
      </p:sp>
      <p:sp>
        <p:nvSpPr>
          <p:cNvPr id="4" name="Carte issue"/>
          <p:cNvSpPr/>
          <p:nvPr/>
        </p:nvSpPr>
        <p:spPr>
          <a:xfrm>
            <a:off x="2103120" y="3017520"/>
            <a:ext cx="4937760" cy="914400"/>
          </a:xfrm>
          <a:prstGeom prst="roundRect">
            <a:avLst>
              <a:gd name="adj" fmla="val 16000"/>
            </a:avLst>
          </a:prstGeom>
          <a:solidFill>
            <a:srgbClr val="FFFFFF"/>
          </a:solidFill>
          <a:ln/>
          <a:effectLst>
            <a:outerShdw sx="100000" sy="100000" kx="0" ky="0" algn="bl" rotWithShape="0" blurRad="304800" dist="127000" dir="5400000">
              <a:srgbClr val="0B1F17">
                <a:alpha val="10000"/>
              </a:srgbClr>
            </a:outerShdw>
          </a:effectLst>
        </p:spPr>
      </p:sp>
      <p:pic>
        <p:nvPicPr>
          <p:cNvPr id="5" name="Logo GitHub" descr="preencoded.png">    </p:cNvPr>
          <p:cNvPicPr>
            <a:picLocks noChangeAspect="1"/>
          </p:cNvPicPr>
          <p:nvPr/>
        </p:nvPicPr>
        <p:blipFill>
          <a:blip r:embed="rId1"/>
          <a:stretch>
            <a:fillRect/>
          </a:stretch>
        </p:blipFill>
        <p:spPr>
          <a:xfrm>
            <a:off x="2377440" y="3291840"/>
            <a:ext cx="365760" cy="365760"/>
          </a:xfrm>
          <a:prstGeom prst="rect">
            <a:avLst/>
          </a:prstGeom>
        </p:spPr>
      </p:pic>
      <p:sp>
        <p:nvSpPr>
          <p:cNvPr id="6" name="Text 3"/>
          <p:cNvSpPr txBox="1"/>
          <p:nvPr/>
        </p:nvSpPr>
        <p:spPr>
          <a:xfrm>
            <a:off x="2926080" y="3017520"/>
            <a:ext cx="2560320" cy="914400"/>
          </a:xfrm>
          <a:prstGeom prst="rect">
            <a:avLst/>
          </a:prstGeom>
          <a:noFill/>
          <a:ln/>
        </p:spPr>
        <p:txBody>
          <a:bodyPr wrap="square" lIns="0" tIns="0" rIns="0" bIns="0" rtlCol="0" anchor="ctr"/>
          <a:lstStyle/>
          <a:p>
            <a:pPr indent="0" marL="0">
              <a:buNone/>
            </a:pPr>
            <a:r>
              <a:rPr lang="en-US" sz="1700" b="1" dirty="0">
                <a:solidFill>
                  <a:srgbClr val="0B1F17"/>
                </a:solidFill>
                <a:latin typeface="Instrument Sans" pitchFamily="34" charset="0"/>
                <a:ea typeface="Instrument Sans" pitchFamily="34" charset="-122"/>
                <a:cs typeface="Instrument Sans" pitchFamily="34" charset="-120"/>
              </a:rPr>
              <a:t>Traduction en wolof</a:t>
            </a:r>
            <a:endParaRPr lang="en-US" sz="1700" dirty="0"/>
          </a:p>
        </p:txBody>
      </p:sp>
      <p:sp>
        <p:nvSpPr>
          <p:cNvPr id="7" name="Text 4"/>
          <p:cNvSpPr txBox="1"/>
          <p:nvPr/>
        </p:nvSpPr>
        <p:spPr>
          <a:xfrm>
            <a:off x="5120640" y="3017520"/>
            <a:ext cx="1691640" cy="914400"/>
          </a:xfrm>
          <a:prstGeom prst="rect">
            <a:avLst/>
          </a:prstGeom>
          <a:noFill/>
          <a:ln/>
        </p:spPr>
        <p:txBody>
          <a:bodyPr wrap="square" lIns="0" tIns="0" rIns="0" bIns="0" rtlCol="0" anchor="ctr"/>
          <a:lstStyle/>
          <a:p>
            <a:pPr algn="r" indent="0" marL="0">
              <a:buNone/>
            </a:pPr>
            <a:r>
              <a:rPr lang="en-US" sz="2400" b="1" dirty="0">
                <a:solidFill>
                  <a:srgbClr val="167A45"/>
                </a:solidFill>
                <a:latin typeface="Bricolage Grotesque" pitchFamily="34" charset="0"/>
                <a:ea typeface="Bricolage Grotesque" pitchFamily="34" charset="-122"/>
                <a:cs typeface="Bricolage Grotesque" pitchFamily="34" charset="-120"/>
              </a:rPr>
              <a:t>10 000 F</a:t>
            </a:r>
            <a:endParaRPr lang="en-US" sz="2400" dirty="0"/>
          </a:p>
        </p:txBody>
      </p:sp>
      <p:sp>
        <p:nvSpPr>
          <p:cNvPr id="8" name="Text 5"/>
          <p:cNvSpPr txBox="1"/>
          <p:nvPr/>
        </p:nvSpPr>
        <p:spPr>
          <a:xfrm>
            <a:off x="914400" y="4297680"/>
            <a:ext cx="7315200" cy="320040"/>
          </a:xfrm>
          <a:prstGeom prst="rect">
            <a:avLst/>
          </a:prstGeom>
          <a:noFill/>
          <a:ln/>
        </p:spPr>
        <p:txBody>
          <a:bodyPr wrap="square" lIns="0" tIns="0" rIns="0" bIns="0" rtlCol="0" anchor="ctr"/>
          <a:lstStyle/>
          <a:p>
            <a:pPr algn="ctr" indent="0" marL="0">
              <a:buNone/>
            </a:pPr>
            <a:r>
              <a:rPr lang="en-US" sz="1300" dirty="0">
                <a:solidFill>
                  <a:srgbClr val="5B7366"/>
                </a:solidFill>
                <a:latin typeface="Instrument Sans" pitchFamily="34" charset="0"/>
                <a:ea typeface="Instrument Sans" pitchFamily="34" charset="-122"/>
                <a:cs typeface="Instrument Sans" pitchFamily="34" charset="-120"/>
              </a:rPr>
              <a:t>Propulsé par Bitnob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Votre projet a trop de tâches</a:t>
            </a:r>
            <a:endParaRPr lang="en-US" sz="3200" dirty="0"/>
          </a:p>
        </p:txBody>
      </p:sp>
      <p:sp>
        <p:nvSpPr>
          <p:cNvPr id="3" name="Text 1"/>
          <p:cNvSpPr txBox="1"/>
          <p:nvPr/>
        </p:nvSpPr>
        <p:spPr>
          <a:xfrm>
            <a:off x="548640" y="1325880"/>
            <a:ext cx="3657600" cy="1737360"/>
          </a:xfrm>
          <a:prstGeom prst="rect">
            <a:avLst/>
          </a:prstGeom>
          <a:noFill/>
          <a:ln/>
        </p:spPr>
        <p:txBody>
          <a:bodyPr wrap="square" lIns="0" tIns="0" rIns="0" bIns="0" rtlCol="0" anchor="ctr"/>
          <a:lstStyle/>
          <a:p>
            <a:pPr indent="0" marL="0">
              <a:buNone/>
            </a:pPr>
            <a:r>
              <a:rPr lang="en-US" sz="13000" b="1" spc="-200" kern="0" dirty="0">
                <a:solidFill>
                  <a:srgbClr val="0B1F17"/>
                </a:solidFill>
                <a:latin typeface="Bricolage Grotesque" pitchFamily="34" charset="0"/>
                <a:ea typeface="Bricolage Grotesque" pitchFamily="34" charset="-122"/>
                <a:cs typeface="Bricolage Grotesque" pitchFamily="34" charset="-120"/>
              </a:rPr>
              <a:t>42</a:t>
            </a:r>
            <a:endParaRPr lang="en-US" sz="13000" dirty="0"/>
          </a:p>
        </p:txBody>
      </p:sp>
      <p:sp>
        <p:nvSpPr>
          <p:cNvPr id="4" name="Text 2"/>
          <p:cNvSpPr txBox="1"/>
          <p:nvPr/>
        </p:nvSpPr>
        <p:spPr>
          <a:xfrm>
            <a:off x="594360" y="3108960"/>
            <a:ext cx="3657600" cy="411480"/>
          </a:xfrm>
          <a:prstGeom prst="rect">
            <a:avLst/>
          </a:prstGeom>
          <a:noFill/>
          <a:ln/>
        </p:spPr>
        <p:txBody>
          <a:bodyPr wrap="square" lIns="0" tIns="0" rIns="0" bIns="0" rtlCol="0" anchor="ctr"/>
          <a:lstStyle/>
          <a:p>
            <a:pPr indent="0" marL="0">
              <a:buNone/>
            </a:pPr>
            <a:r>
              <a:rPr lang="en-US" sz="2000" dirty="0">
                <a:solidFill>
                  <a:srgbClr val="2C4337"/>
                </a:solidFill>
                <a:latin typeface="Instrument Sans" pitchFamily="34" charset="0"/>
                <a:ea typeface="Instrument Sans" pitchFamily="34" charset="-122"/>
                <a:cs typeface="Instrument Sans" pitchFamily="34" charset="-120"/>
              </a:rPr>
              <a:t>tâches attendent quelqu'un</a:t>
            </a:r>
            <a:endParaRPr lang="en-US" sz="2000" dirty="0"/>
          </a:p>
        </p:txBody>
      </p:sp>
      <p:sp>
        <p:nvSpPr>
          <p:cNvPr id="5" name="Text 3"/>
          <p:cNvSpPr txBox="1"/>
          <p:nvPr/>
        </p:nvSpPr>
        <p:spPr>
          <a:xfrm>
            <a:off x="594360" y="3520440"/>
            <a:ext cx="3657600" cy="365760"/>
          </a:xfrm>
          <a:prstGeom prst="rect">
            <a:avLst/>
          </a:prstGeom>
          <a:noFill/>
          <a:ln/>
        </p:spPr>
        <p:txBody>
          <a:bodyPr wrap="square" lIns="0" tIns="0" rIns="0" bIns="0" rtlCol="0" anchor="ctr"/>
          <a:lstStyle/>
          <a:p>
            <a:pPr indent="0" marL="0">
              <a:buNone/>
            </a:pPr>
            <a:r>
              <a:rPr lang="en-US" sz="1600" dirty="0">
                <a:solidFill>
                  <a:srgbClr val="5B7366"/>
                </a:solidFill>
                <a:latin typeface="Instrument Sans" pitchFamily="34" charset="0"/>
                <a:ea typeface="Instrument Sans" pitchFamily="34" charset="-122"/>
                <a:cs typeface="Instrument Sans" pitchFamily="34" charset="-120"/>
              </a:rPr>
              <a:t>et vous n'avez pas assez de mains.</a:t>
            </a:r>
            <a:endParaRPr lang="en-US" sz="1600" dirty="0"/>
          </a:p>
        </p:txBody>
      </p:sp>
      <p:sp>
        <p:nvSpPr>
          <p:cNvPr id="6" name="Pile 3"/>
          <p:cNvSpPr/>
          <p:nvPr/>
        </p:nvSpPr>
        <p:spPr>
          <a:xfrm>
            <a:off x="5120640" y="1234440"/>
            <a:ext cx="3291840" cy="2926080"/>
          </a:xfrm>
          <a:prstGeom prst="roundRect">
            <a:avLst>
              <a:gd name="adj" fmla="val 5000"/>
            </a:avLst>
          </a:prstGeom>
          <a:solidFill>
            <a:srgbClr val="E1E5DE"/>
          </a:solidFill>
          <a:ln/>
        </p:spPr>
      </p:sp>
      <p:sp>
        <p:nvSpPr>
          <p:cNvPr id="7" name="Pile 2"/>
          <p:cNvSpPr/>
          <p:nvPr/>
        </p:nvSpPr>
        <p:spPr>
          <a:xfrm>
            <a:off x="4937760" y="1417320"/>
            <a:ext cx="3291840" cy="2926080"/>
          </a:xfrm>
          <a:prstGeom prst="roundRect">
            <a:avLst>
              <a:gd name="adj" fmla="val 5000"/>
            </a:avLst>
          </a:prstGeom>
          <a:solidFill>
            <a:srgbClr val="EAEDE6"/>
          </a:solidFill>
          <a:ln/>
        </p:spPr>
      </p:sp>
      <p:sp>
        <p:nvSpPr>
          <p:cNvPr id="8" name="Pile 1"/>
          <p:cNvSpPr/>
          <p:nvPr/>
        </p:nvSpPr>
        <p:spPr>
          <a:xfrm>
            <a:off x="4754880" y="1600200"/>
            <a:ext cx="3291840" cy="2926080"/>
          </a:xfrm>
          <a:prstGeom prst="roundRect">
            <a:avLst>
              <a:gd name="adj" fmla="val 5000"/>
            </a:avLst>
          </a:prstGeom>
          <a:solidFill>
            <a:srgbClr val="FFFFFF"/>
          </a:solidFill>
          <a:ln/>
          <a:effectLst>
            <a:outerShdw sx="100000" sy="100000" kx="0" ky="0" algn="bl" rotWithShape="0" blurRad="304800" dist="127000" dir="5400000">
              <a:srgbClr val="0B1F17">
                <a:alpha val="10000"/>
              </a:srgbClr>
            </a:outerShdw>
          </a:effectLst>
        </p:spPr>
      </p:sp>
      <p:pic>
        <p:nvPicPr>
          <p:cNvPr id="9" name="Pile icône" descr="preencoded.png">    </p:cNvPr>
          <p:cNvPicPr>
            <a:picLocks noChangeAspect="1"/>
          </p:cNvPicPr>
          <p:nvPr/>
        </p:nvPicPr>
        <p:blipFill>
          <a:blip r:embed="rId1"/>
          <a:stretch>
            <a:fillRect/>
          </a:stretch>
        </p:blipFill>
        <p:spPr>
          <a:xfrm>
            <a:off x="4983480" y="1810512"/>
            <a:ext cx="310896" cy="310896"/>
          </a:xfrm>
          <a:prstGeom prst="rect">
            <a:avLst/>
          </a:prstGeom>
        </p:spPr>
      </p:pic>
      <p:sp>
        <p:nvSpPr>
          <p:cNvPr id="10" name="Tâche 1 rond"/>
          <p:cNvSpPr/>
          <p:nvPr/>
        </p:nvSpPr>
        <p:spPr>
          <a:xfrm>
            <a:off x="5010912" y="2487168"/>
            <a:ext cx="182880" cy="182880"/>
          </a:xfrm>
          <a:prstGeom prst="ellipse">
            <a:avLst/>
          </a:prstGeom>
          <a:ln w="19050">
            <a:solidFill>
              <a:srgbClr val="5B7366"/>
            </a:solidFill>
            <a:prstDash val="solid"/>
          </a:ln>
        </p:spPr>
      </p:sp>
      <p:sp>
        <p:nvSpPr>
          <p:cNvPr id="11" name="Tâche 1 barre"/>
          <p:cNvSpPr/>
          <p:nvPr/>
        </p:nvSpPr>
        <p:spPr>
          <a:xfrm>
            <a:off x="5349240" y="2496312"/>
            <a:ext cx="2194560" cy="164592"/>
          </a:xfrm>
          <a:prstGeom prst="roundRect">
            <a:avLst>
              <a:gd name="adj" fmla="val 50000"/>
            </a:avLst>
          </a:prstGeom>
          <a:solidFill>
            <a:srgbClr val="E1E5DE"/>
          </a:solidFill>
          <a:ln/>
        </p:spPr>
      </p:sp>
      <p:sp>
        <p:nvSpPr>
          <p:cNvPr id="12" name="Tâche 2 rond"/>
          <p:cNvSpPr/>
          <p:nvPr/>
        </p:nvSpPr>
        <p:spPr>
          <a:xfrm>
            <a:off x="5010912" y="2962656"/>
            <a:ext cx="182880" cy="182880"/>
          </a:xfrm>
          <a:prstGeom prst="ellipse">
            <a:avLst/>
          </a:prstGeom>
          <a:ln w="19050">
            <a:solidFill>
              <a:srgbClr val="5B7366"/>
            </a:solidFill>
            <a:prstDash val="solid"/>
          </a:ln>
        </p:spPr>
      </p:sp>
      <p:sp>
        <p:nvSpPr>
          <p:cNvPr id="13" name="Tâche 2 barre"/>
          <p:cNvSpPr/>
          <p:nvPr/>
        </p:nvSpPr>
        <p:spPr>
          <a:xfrm>
            <a:off x="5349240" y="2971800"/>
            <a:ext cx="1737360" cy="164592"/>
          </a:xfrm>
          <a:prstGeom prst="roundRect">
            <a:avLst>
              <a:gd name="adj" fmla="val 50000"/>
            </a:avLst>
          </a:prstGeom>
          <a:solidFill>
            <a:srgbClr val="E1E5DE"/>
          </a:solidFill>
          <a:ln/>
        </p:spPr>
      </p:sp>
      <p:sp>
        <p:nvSpPr>
          <p:cNvPr id="14" name="Tâche 3 rond"/>
          <p:cNvSpPr/>
          <p:nvPr/>
        </p:nvSpPr>
        <p:spPr>
          <a:xfrm>
            <a:off x="5010912" y="3438144"/>
            <a:ext cx="182880" cy="182880"/>
          </a:xfrm>
          <a:prstGeom prst="ellipse">
            <a:avLst/>
          </a:prstGeom>
          <a:ln w="19050">
            <a:solidFill>
              <a:srgbClr val="5B7366"/>
            </a:solidFill>
            <a:prstDash val="solid"/>
          </a:ln>
        </p:spPr>
      </p:sp>
      <p:sp>
        <p:nvSpPr>
          <p:cNvPr id="15" name="Tâche 3 barre"/>
          <p:cNvSpPr/>
          <p:nvPr/>
        </p:nvSpPr>
        <p:spPr>
          <a:xfrm>
            <a:off x="5349240" y="3447288"/>
            <a:ext cx="2011680" cy="164592"/>
          </a:xfrm>
          <a:prstGeom prst="roundRect">
            <a:avLst>
              <a:gd name="adj" fmla="val 50000"/>
            </a:avLst>
          </a:prstGeom>
          <a:solidFill>
            <a:srgbClr val="E1E5DE"/>
          </a:solidFill>
          <a:ln/>
        </p:spPr>
      </p:sp>
      <p:sp>
        <p:nvSpPr>
          <p:cNvPr id="16" name="Tâche 4 rond"/>
          <p:cNvSpPr/>
          <p:nvPr/>
        </p:nvSpPr>
        <p:spPr>
          <a:xfrm>
            <a:off x="5010912" y="3913632"/>
            <a:ext cx="182880" cy="182880"/>
          </a:xfrm>
          <a:prstGeom prst="ellipse">
            <a:avLst/>
          </a:prstGeom>
          <a:ln w="19050">
            <a:solidFill>
              <a:srgbClr val="5B7366"/>
            </a:solidFill>
            <a:prstDash val="solid"/>
          </a:ln>
        </p:spPr>
      </p:sp>
      <p:sp>
        <p:nvSpPr>
          <p:cNvPr id="17" name="Tâche 4 barre"/>
          <p:cNvSpPr/>
          <p:nvPr/>
        </p:nvSpPr>
        <p:spPr>
          <a:xfrm>
            <a:off x="5349240" y="3922776"/>
            <a:ext cx="1463040" cy="164592"/>
          </a:xfrm>
          <a:prstGeom prst="roundRect">
            <a:avLst>
              <a:gd name="adj" fmla="val 50000"/>
            </a:avLst>
          </a:prstGeom>
          <a:solidFill>
            <a:srgbClr val="E1E5DE"/>
          </a:solidFill>
          <a:ln/>
        </p:spPr>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Bricolage Grotesque" pitchFamily="34" charset="0"/>
                <a:ea typeface="Bricolage Grotesque" pitchFamily="34" charset="-122"/>
                <a:cs typeface="Bricolage Grotesque" pitchFamily="34" charset="-120"/>
              </a:rPr>
              <a:t>Payer quelqu'un à l'étranger ? Bloqué.</a:t>
            </a:r>
            <a:endParaRPr lang="en-US" sz="3200" dirty="0"/>
          </a:p>
        </p:txBody>
      </p:sp>
      <p:sp>
        <p:nvSpPr>
          <p:cNvPr id="3" name="Vous"/>
          <p:cNvSpPr/>
          <p:nvPr/>
        </p:nvSpPr>
        <p:spPr>
          <a:xfrm>
            <a:off x="548640" y="2377440"/>
            <a:ext cx="1051560" cy="1051560"/>
          </a:xfrm>
          <a:prstGeom prst="ellipse">
            <a:avLst/>
          </a:prstGeom>
          <a:solidFill>
            <a:srgbClr val="FFFFFF"/>
          </a:solidFill>
          <a:ln/>
        </p:spPr>
      </p:sp>
      <p:pic>
        <p:nvPicPr>
          <p:cNvPr id="4" name="Vous icône" descr="preencoded.png">    </p:cNvPr>
          <p:cNvPicPr>
            <a:picLocks noChangeAspect="1"/>
          </p:cNvPicPr>
          <p:nvPr/>
        </p:nvPicPr>
        <p:blipFill>
          <a:blip r:embed="rId1"/>
          <a:stretch>
            <a:fillRect/>
          </a:stretch>
        </p:blipFill>
        <p:spPr>
          <a:xfrm>
            <a:off x="832561" y="2661361"/>
            <a:ext cx="483718" cy="483718"/>
          </a:xfrm>
          <a:prstGeom prst="rect">
            <a:avLst/>
          </a:prstGeom>
        </p:spPr>
      </p:pic>
      <p:sp>
        <p:nvSpPr>
          <p:cNvPr id="5" name="Text 2"/>
          <p:cNvSpPr txBox="1"/>
          <p:nvPr/>
        </p:nvSpPr>
        <p:spPr>
          <a:xfrm>
            <a:off x="365760" y="3520440"/>
            <a:ext cx="14173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Instrument Sans" pitchFamily="34" charset="0"/>
                <a:ea typeface="Instrument Sans" pitchFamily="34" charset="-122"/>
                <a:cs typeface="Instrument Sans" pitchFamily="34" charset="-120"/>
              </a:rPr>
              <a:t>Vous</a:t>
            </a:r>
            <a:endParaRPr lang="en-US" sz="1600" dirty="0"/>
          </a:p>
        </p:txBody>
      </p:sp>
      <p:sp>
        <p:nvSpPr>
          <p:cNvPr id="6" name="Argent"/>
          <p:cNvSpPr/>
          <p:nvPr/>
        </p:nvSpPr>
        <p:spPr>
          <a:xfrm>
            <a:off x="1691640" y="2907792"/>
            <a:ext cx="868680" cy="0"/>
          </a:xfrm>
          <a:prstGeom prst="line">
            <a:avLst/>
          </a:prstGeom>
          <a:noFill/>
          <a:ln w="31750">
            <a:solidFill>
              <a:srgbClr val="9DC4AE"/>
            </a:solidFill>
            <a:prstDash val="solid"/>
            <a:tailEnd type="triangle"/>
          </a:ln>
        </p:spPr>
      </p:sp>
      <p:sp>
        <p:nvSpPr>
          <p:cNvPr id="7" name="Mur"/>
          <p:cNvSpPr/>
          <p:nvPr/>
        </p:nvSpPr>
        <p:spPr>
          <a:xfrm>
            <a:off x="2697480" y="1645920"/>
            <a:ext cx="3749040" cy="2606040"/>
          </a:xfrm>
          <a:prstGeom prst="roundRect">
            <a:avLst>
              <a:gd name="adj" fmla="val 7719"/>
            </a:avLst>
          </a:prstGeom>
          <a:solidFill>
            <a:srgbClr val="13291F"/>
          </a:solidFill>
          <a:ln w="19050">
            <a:solidFill>
              <a:srgbClr val="2A4537"/>
            </a:solidFill>
            <a:prstDash val="solid"/>
          </a:ln>
        </p:spPr>
      </p:sp>
      <p:pic>
        <p:nvPicPr>
          <p:cNvPr id="8" name="Brique 1" descr="preencoded.png">    </p:cNvPr>
          <p:cNvPicPr>
            <a:picLocks noChangeAspect="1"/>
          </p:cNvPicPr>
          <p:nvPr/>
        </p:nvPicPr>
        <p:blipFill>
          <a:blip r:embed="rId2"/>
          <a:stretch>
            <a:fillRect/>
          </a:stretch>
        </p:blipFill>
        <p:spPr>
          <a:xfrm>
            <a:off x="3474720" y="1874520"/>
            <a:ext cx="502920" cy="502920"/>
          </a:xfrm>
          <a:prstGeom prst="rect">
            <a:avLst/>
          </a:prstGeom>
        </p:spPr>
      </p:pic>
      <p:sp>
        <p:nvSpPr>
          <p:cNvPr id="9" name="Text 5"/>
          <p:cNvSpPr txBox="1"/>
          <p:nvPr/>
        </p:nvSpPr>
        <p:spPr>
          <a:xfrm>
            <a:off x="2971800" y="2468880"/>
            <a:ext cx="1508760" cy="32004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Factures</a:t>
            </a:r>
            <a:endParaRPr lang="en-US" sz="1400" dirty="0"/>
          </a:p>
        </p:txBody>
      </p:sp>
      <p:pic>
        <p:nvPicPr>
          <p:cNvPr id="10" name="Brique 2" descr="preencoded.png">    </p:cNvPr>
          <p:cNvPicPr>
            <a:picLocks noChangeAspect="1"/>
          </p:cNvPicPr>
          <p:nvPr/>
        </p:nvPicPr>
        <p:blipFill>
          <a:blip r:embed="rId3"/>
          <a:stretch>
            <a:fillRect/>
          </a:stretch>
        </p:blipFill>
        <p:spPr>
          <a:xfrm>
            <a:off x="5212080" y="1874520"/>
            <a:ext cx="502920" cy="502920"/>
          </a:xfrm>
          <a:prstGeom prst="rect">
            <a:avLst/>
          </a:prstGeom>
        </p:spPr>
      </p:pic>
      <p:sp>
        <p:nvSpPr>
          <p:cNvPr id="11" name="Text 6"/>
          <p:cNvSpPr txBox="1"/>
          <p:nvPr/>
        </p:nvSpPr>
        <p:spPr>
          <a:xfrm>
            <a:off x="4709160" y="2468880"/>
            <a:ext cx="1508760" cy="32004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Virements</a:t>
            </a:r>
            <a:endParaRPr lang="en-US" sz="1400" dirty="0"/>
          </a:p>
        </p:txBody>
      </p:sp>
      <p:pic>
        <p:nvPicPr>
          <p:cNvPr id="12" name="Brique 3" descr="preencoded.png">    </p:cNvPr>
          <p:cNvPicPr>
            <a:picLocks noChangeAspect="1"/>
          </p:cNvPicPr>
          <p:nvPr/>
        </p:nvPicPr>
        <p:blipFill>
          <a:blip r:embed="rId4"/>
          <a:stretch>
            <a:fillRect/>
          </a:stretch>
        </p:blipFill>
        <p:spPr>
          <a:xfrm>
            <a:off x="3474720" y="3063240"/>
            <a:ext cx="502920" cy="502920"/>
          </a:xfrm>
          <a:prstGeom prst="rect">
            <a:avLst/>
          </a:prstGeom>
        </p:spPr>
      </p:pic>
      <p:sp>
        <p:nvSpPr>
          <p:cNvPr id="13" name="Text 7"/>
          <p:cNvSpPr txBox="1"/>
          <p:nvPr/>
        </p:nvSpPr>
        <p:spPr>
          <a:xfrm>
            <a:off x="2971800" y="3657600"/>
            <a:ext cx="1508760" cy="32004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Pas de Stripe</a:t>
            </a:r>
            <a:endParaRPr lang="en-US" sz="1400" dirty="0"/>
          </a:p>
        </p:txBody>
      </p:sp>
      <p:pic>
        <p:nvPicPr>
          <p:cNvPr id="14" name="Brique 4" descr="preencoded.png">    </p:cNvPr>
          <p:cNvPicPr>
            <a:picLocks noChangeAspect="1"/>
          </p:cNvPicPr>
          <p:nvPr/>
        </p:nvPicPr>
        <p:blipFill>
          <a:blip r:embed="rId5"/>
          <a:stretch>
            <a:fillRect/>
          </a:stretch>
        </p:blipFill>
        <p:spPr>
          <a:xfrm>
            <a:off x="5212080" y="3063240"/>
            <a:ext cx="502920" cy="502920"/>
          </a:xfrm>
          <a:prstGeom prst="rect">
            <a:avLst/>
          </a:prstGeom>
        </p:spPr>
      </p:pic>
      <p:sp>
        <p:nvSpPr>
          <p:cNvPr id="15" name="Text 8"/>
          <p:cNvSpPr txBox="1"/>
          <p:nvPr/>
        </p:nvSpPr>
        <p:spPr>
          <a:xfrm>
            <a:off x="4709160" y="3657600"/>
            <a:ext cx="1508760" cy="32004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Pas de PayPal</a:t>
            </a:r>
            <a:endParaRPr lang="en-US" sz="1400" dirty="0"/>
          </a:p>
        </p:txBody>
      </p:sp>
      <p:sp>
        <p:nvSpPr>
          <p:cNvPr id="16" name="Rien"/>
          <p:cNvSpPr/>
          <p:nvPr/>
        </p:nvSpPr>
        <p:spPr>
          <a:xfrm>
            <a:off x="6583680" y="2907792"/>
            <a:ext cx="868680" cy="0"/>
          </a:xfrm>
          <a:prstGeom prst="line">
            <a:avLst/>
          </a:prstGeom>
          <a:noFill/>
          <a:ln w="31750">
            <a:solidFill>
              <a:srgbClr val="2A4537"/>
            </a:solidFill>
            <a:prstDash val="dash"/>
            <a:tailEnd type="triangle"/>
          </a:ln>
        </p:spPr>
      </p:sp>
      <p:sp>
        <p:nvSpPr>
          <p:cNvPr id="17" name="Dev"/>
          <p:cNvSpPr/>
          <p:nvPr/>
        </p:nvSpPr>
        <p:spPr>
          <a:xfrm>
            <a:off x="7543800" y="2377440"/>
            <a:ext cx="1051560" cy="1051560"/>
          </a:xfrm>
          <a:prstGeom prst="ellipse">
            <a:avLst/>
          </a:prstGeom>
          <a:solidFill>
            <a:srgbClr val="13291F"/>
          </a:solidFill>
          <a:ln w="19050">
            <a:solidFill>
              <a:srgbClr val="2A4537"/>
            </a:solidFill>
            <a:prstDash val="solid"/>
          </a:ln>
        </p:spPr>
      </p:sp>
      <p:pic>
        <p:nvPicPr>
          <p:cNvPr id="18" name="Dev icône" descr="preencoded.png">    </p:cNvPr>
          <p:cNvPicPr>
            <a:picLocks noChangeAspect="1"/>
          </p:cNvPicPr>
          <p:nvPr/>
        </p:nvPicPr>
        <p:blipFill>
          <a:blip r:embed="rId6"/>
          <a:stretch>
            <a:fillRect/>
          </a:stretch>
        </p:blipFill>
        <p:spPr>
          <a:xfrm>
            <a:off x="7827721" y="2661361"/>
            <a:ext cx="483718" cy="483718"/>
          </a:xfrm>
          <a:prstGeom prst="rect">
            <a:avLst/>
          </a:prstGeom>
        </p:spPr>
      </p:pic>
      <p:sp>
        <p:nvSpPr>
          <p:cNvPr id="19" name="Text 11"/>
          <p:cNvSpPr txBox="1"/>
          <p:nvPr/>
        </p:nvSpPr>
        <p:spPr>
          <a:xfrm>
            <a:off x="7269480" y="3520440"/>
            <a:ext cx="1600200" cy="365760"/>
          </a:xfrm>
          <a:prstGeom prst="rect">
            <a:avLst/>
          </a:prstGeom>
          <a:noFill/>
          <a:ln/>
        </p:spPr>
        <p:txBody>
          <a:bodyPr wrap="square" lIns="0" tIns="0" rIns="0" bIns="0" rtlCol="0" anchor="ctr"/>
          <a:lstStyle/>
          <a:p>
            <a:pPr algn="ctr" indent="0" marL="0">
              <a:buNone/>
            </a:pPr>
            <a:r>
              <a:rPr lang="en-US" sz="1600" b="1" dirty="0">
                <a:solidFill>
                  <a:srgbClr val="9DC4AE"/>
                </a:solidFill>
                <a:latin typeface="Instrument Sans" pitchFamily="34" charset="0"/>
                <a:ea typeface="Instrument Sans" pitchFamily="34" charset="-122"/>
                <a:cs typeface="Instrument Sans" pitchFamily="34" charset="-120"/>
              </a:rPr>
              <a:t>Dev à Dakar</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9DC4AE"/>
                </a:solidFill>
                <a:latin typeface="Instrument Sans"/>
                <a:ea typeface="Instrument Sans"/>
                <a:cs typeface="Instrument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Pourtant, le talent est là</a:t>
            </a:r>
            <a:endParaRPr lang="en-US" sz="3200" dirty="0"/>
          </a:p>
        </p:txBody>
      </p:sp>
      <p:sp>
        <p:nvSpPr>
          <p:cNvPr id="3" name="Cercle Afrique"/>
          <p:cNvSpPr/>
          <p:nvPr/>
        </p:nvSpPr>
        <p:spPr>
          <a:xfrm>
            <a:off x="822960" y="1371600"/>
            <a:ext cx="2651760" cy="2651760"/>
          </a:xfrm>
          <a:prstGeom prst="ellipse">
            <a:avLst/>
          </a:prstGeom>
          <a:solidFill>
            <a:srgbClr val="EEF0EA"/>
          </a:solidFill>
          <a:ln/>
        </p:spPr>
      </p:sp>
      <p:pic>
        <p:nvPicPr>
          <p:cNvPr id="4" name="Afrique" descr="preencoded.png">    </p:cNvPr>
          <p:cNvPicPr>
            <a:picLocks noChangeAspect="1"/>
          </p:cNvPicPr>
          <p:nvPr/>
        </p:nvPicPr>
        <p:blipFill>
          <a:blip r:embed="rId1"/>
          <a:stretch>
            <a:fillRect/>
          </a:stretch>
        </p:blipFill>
        <p:spPr>
          <a:xfrm>
            <a:off x="1536192" y="2084832"/>
            <a:ext cx="1225296" cy="1225296"/>
          </a:xfrm>
          <a:prstGeom prst="rect">
            <a:avLst/>
          </a:prstGeom>
        </p:spPr>
      </p:pic>
      <p:sp>
        <p:nvSpPr>
          <p:cNvPr id="5" name="Dev 1"/>
          <p:cNvSpPr/>
          <p:nvPr/>
        </p:nvSpPr>
        <p:spPr>
          <a:xfrm>
            <a:off x="594360" y="1417320"/>
            <a:ext cx="502920" cy="502920"/>
          </a:xfrm>
          <a:prstGeom prst="ellipse">
            <a:avLst/>
          </a:prstGeom>
          <a:solidFill>
            <a:srgbClr val="FFFFFF"/>
          </a:solidFill>
          <a:ln w="12700">
            <a:solidFill>
              <a:srgbClr val="E3E7E0"/>
            </a:solidFill>
            <a:prstDash val="solid"/>
          </a:ln>
        </p:spPr>
      </p:sp>
      <p:pic>
        <p:nvPicPr>
          <p:cNvPr id="6" name="Dev 1 icône" descr="preencoded.png">    </p:cNvPr>
          <p:cNvPicPr>
            <a:picLocks noChangeAspect="1"/>
          </p:cNvPicPr>
          <p:nvPr/>
        </p:nvPicPr>
        <p:blipFill>
          <a:blip r:embed="rId2"/>
          <a:stretch>
            <a:fillRect/>
          </a:stretch>
        </p:blipFill>
        <p:spPr>
          <a:xfrm>
            <a:off x="740207" y="1563167"/>
            <a:ext cx="211226" cy="211226"/>
          </a:xfrm>
          <a:prstGeom prst="rect">
            <a:avLst/>
          </a:prstGeom>
        </p:spPr>
      </p:pic>
      <p:sp>
        <p:nvSpPr>
          <p:cNvPr id="7" name="Dev 2"/>
          <p:cNvSpPr/>
          <p:nvPr/>
        </p:nvSpPr>
        <p:spPr>
          <a:xfrm>
            <a:off x="3154680" y="1325880"/>
            <a:ext cx="502920" cy="502920"/>
          </a:xfrm>
          <a:prstGeom prst="ellipse">
            <a:avLst/>
          </a:prstGeom>
          <a:solidFill>
            <a:srgbClr val="FFFFFF"/>
          </a:solidFill>
          <a:ln w="12700">
            <a:solidFill>
              <a:srgbClr val="E3E7E0"/>
            </a:solidFill>
            <a:prstDash val="solid"/>
          </a:ln>
        </p:spPr>
      </p:sp>
      <p:pic>
        <p:nvPicPr>
          <p:cNvPr id="8" name="Dev 2 icône" descr="preencoded.png">    </p:cNvPr>
          <p:cNvPicPr>
            <a:picLocks noChangeAspect="1"/>
          </p:cNvPicPr>
          <p:nvPr/>
        </p:nvPicPr>
        <p:blipFill>
          <a:blip r:embed="rId3"/>
          <a:stretch>
            <a:fillRect/>
          </a:stretch>
        </p:blipFill>
        <p:spPr>
          <a:xfrm>
            <a:off x="3300527" y="1471727"/>
            <a:ext cx="211226" cy="211226"/>
          </a:xfrm>
          <a:prstGeom prst="rect">
            <a:avLst/>
          </a:prstGeom>
        </p:spPr>
      </p:pic>
      <p:sp>
        <p:nvSpPr>
          <p:cNvPr id="9" name="Dev 3"/>
          <p:cNvSpPr/>
          <p:nvPr/>
        </p:nvSpPr>
        <p:spPr>
          <a:xfrm>
            <a:off x="548640" y="3291840"/>
            <a:ext cx="502920" cy="502920"/>
          </a:xfrm>
          <a:prstGeom prst="ellipse">
            <a:avLst/>
          </a:prstGeom>
          <a:solidFill>
            <a:srgbClr val="FFFFFF"/>
          </a:solidFill>
          <a:ln w="12700">
            <a:solidFill>
              <a:srgbClr val="E3E7E0"/>
            </a:solidFill>
            <a:prstDash val="solid"/>
          </a:ln>
        </p:spPr>
      </p:sp>
      <p:pic>
        <p:nvPicPr>
          <p:cNvPr id="10" name="Dev 3 icône" descr="preencoded.png">    </p:cNvPr>
          <p:cNvPicPr>
            <a:picLocks noChangeAspect="1"/>
          </p:cNvPicPr>
          <p:nvPr/>
        </p:nvPicPr>
        <p:blipFill>
          <a:blip r:embed="rId4"/>
          <a:stretch>
            <a:fillRect/>
          </a:stretch>
        </p:blipFill>
        <p:spPr>
          <a:xfrm>
            <a:off x="694487" y="3437687"/>
            <a:ext cx="211226" cy="211226"/>
          </a:xfrm>
          <a:prstGeom prst="rect">
            <a:avLst/>
          </a:prstGeom>
        </p:spPr>
      </p:pic>
      <p:sp>
        <p:nvSpPr>
          <p:cNvPr id="11" name="Dev 4"/>
          <p:cNvSpPr/>
          <p:nvPr/>
        </p:nvSpPr>
        <p:spPr>
          <a:xfrm>
            <a:off x="3200400" y="3246120"/>
            <a:ext cx="502920" cy="502920"/>
          </a:xfrm>
          <a:prstGeom prst="ellipse">
            <a:avLst/>
          </a:prstGeom>
          <a:solidFill>
            <a:srgbClr val="FFFFFF"/>
          </a:solidFill>
          <a:ln w="12700">
            <a:solidFill>
              <a:srgbClr val="E3E7E0"/>
            </a:solidFill>
            <a:prstDash val="solid"/>
          </a:ln>
        </p:spPr>
      </p:sp>
      <p:pic>
        <p:nvPicPr>
          <p:cNvPr id="12" name="Dev 4 icône" descr="preencoded.png">    </p:cNvPr>
          <p:cNvPicPr>
            <a:picLocks noChangeAspect="1"/>
          </p:cNvPicPr>
          <p:nvPr/>
        </p:nvPicPr>
        <p:blipFill>
          <a:blip r:embed="rId5"/>
          <a:stretch>
            <a:fillRect/>
          </a:stretch>
        </p:blipFill>
        <p:spPr>
          <a:xfrm>
            <a:off x="3346247" y="3391967"/>
            <a:ext cx="211226" cy="211226"/>
          </a:xfrm>
          <a:prstGeom prst="rect">
            <a:avLst/>
          </a:prstGeom>
        </p:spPr>
      </p:pic>
      <p:sp>
        <p:nvSpPr>
          <p:cNvPr id="13" name="Text 6"/>
          <p:cNvSpPr txBox="1"/>
          <p:nvPr/>
        </p:nvSpPr>
        <p:spPr>
          <a:xfrm>
            <a:off x="4206240" y="1417320"/>
            <a:ext cx="4572000" cy="1371600"/>
          </a:xfrm>
          <a:prstGeom prst="rect">
            <a:avLst/>
          </a:prstGeom>
          <a:noFill/>
          <a:ln/>
        </p:spPr>
        <p:txBody>
          <a:bodyPr wrap="square" lIns="0" tIns="0" rIns="0" bIns="0" rtlCol="0" anchor="ctr"/>
          <a:lstStyle/>
          <a:p>
            <a:pPr indent="0" marL="0">
              <a:buNone/>
            </a:pPr>
            <a:r>
              <a:rPr lang="en-US" sz="8400" b="1" spc="-100" kern="0" dirty="0">
                <a:solidFill>
                  <a:srgbClr val="167A45"/>
                </a:solidFill>
                <a:latin typeface="Bricolage Grotesque" pitchFamily="34" charset="0"/>
                <a:ea typeface="Bricolage Grotesque" pitchFamily="34" charset="-122"/>
                <a:cs typeface="Bricolage Grotesque" pitchFamily="34" charset="-120"/>
              </a:rPr>
              <a:t>+3,4 M</a:t>
            </a:r>
            <a:endParaRPr lang="en-US" sz="8400" dirty="0"/>
          </a:p>
        </p:txBody>
      </p:sp>
      <p:sp>
        <p:nvSpPr>
          <p:cNvPr id="14" name="Text 7"/>
          <p:cNvSpPr txBox="1"/>
          <p:nvPr/>
        </p:nvSpPr>
        <p:spPr>
          <a:xfrm>
            <a:off x="4251960" y="2834640"/>
            <a:ext cx="4297680" cy="685800"/>
          </a:xfrm>
          <a:prstGeom prst="rect">
            <a:avLst/>
          </a:prstGeom>
          <a:noFill/>
          <a:ln/>
        </p:spPr>
        <p:txBody>
          <a:bodyPr wrap="square" lIns="0" tIns="0" rIns="0" bIns="0" rtlCol="0" anchor="ctr"/>
          <a:lstStyle/>
          <a:p>
            <a:pPr indent="0" marL="0">
              <a:buNone/>
            </a:pPr>
            <a:r>
              <a:rPr lang="en-US" sz="1900" dirty="0">
                <a:solidFill>
                  <a:srgbClr val="2C4337"/>
                </a:solidFill>
                <a:latin typeface="Instrument Sans" pitchFamily="34" charset="0"/>
                <a:ea typeface="Instrument Sans" pitchFamily="34" charset="-122"/>
                <a:cs typeface="Instrument Sans" pitchFamily="34" charset="-120"/>
              </a:rPr>
              <a:t>nouveaux devs en Afrique et au Moyen-Orient, en un an</a:t>
            </a:r>
            <a:endParaRPr lang="en-US" sz="1900" dirty="0"/>
          </a:p>
        </p:txBody>
      </p:sp>
      <p:sp>
        <p:nvSpPr>
          <p:cNvPr id="15" name="Text 8"/>
          <p:cNvSpPr txBox="1"/>
          <p:nvPr/>
        </p:nvSpPr>
        <p:spPr>
          <a:xfrm>
            <a:off x="4251960" y="3611880"/>
            <a:ext cx="4297680" cy="274320"/>
          </a:xfrm>
          <a:prstGeom prst="rect">
            <a:avLst/>
          </a:prstGeom>
          <a:noFill/>
          <a:ln/>
        </p:spPr>
        <p:txBody>
          <a:bodyPr wrap="square" lIns="0" tIns="0" rIns="0" bIns="0" rtlCol="0" anchor="ctr"/>
          <a:lstStyle/>
          <a:p>
            <a:pPr indent="0" marL="0">
              <a:buNone/>
            </a:pPr>
            <a:r>
              <a:rPr lang="en-US" sz="1200" dirty="0">
                <a:solidFill>
                  <a:srgbClr val="5B7366"/>
                </a:solidFill>
                <a:latin typeface="Instrument Sans" pitchFamily="34" charset="0"/>
                <a:ea typeface="Instrument Sans" pitchFamily="34" charset="-122"/>
                <a:cs typeface="Instrument Sans" pitchFamily="34" charset="-120"/>
              </a:rPr>
              <a:t>Source : GitHub Octoverse 2025</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BitBounty fait le pont</a:t>
            </a:r>
            <a:endParaRPr lang="en-US" sz="3200" dirty="0"/>
          </a:p>
        </p:txBody>
      </p:sp>
      <p:sp>
        <p:nvSpPr>
          <p:cNvPr id="3" name="GitHub"/>
          <p:cNvSpPr/>
          <p:nvPr/>
        </p:nvSpPr>
        <p:spPr>
          <a:xfrm>
            <a:off x="914400" y="1965960"/>
            <a:ext cx="1280160" cy="1280160"/>
          </a:xfrm>
          <a:prstGeom prst="ellipse">
            <a:avLst/>
          </a:prstGeom>
          <a:solidFill>
            <a:srgbClr val="FFFFFF"/>
          </a:solidFill>
          <a:ln w="12700">
            <a:solidFill>
              <a:srgbClr val="E3E7E0"/>
            </a:solidFill>
            <a:prstDash val="solid"/>
          </a:ln>
        </p:spPr>
      </p:sp>
      <p:pic>
        <p:nvPicPr>
          <p:cNvPr id="4" name="GitHub icône" descr="preencoded.png">    </p:cNvPr>
          <p:cNvPicPr>
            <a:picLocks noChangeAspect="1"/>
          </p:cNvPicPr>
          <p:nvPr/>
        </p:nvPicPr>
        <p:blipFill>
          <a:blip r:embed="rId1"/>
          <a:stretch>
            <a:fillRect/>
          </a:stretch>
        </p:blipFill>
        <p:spPr>
          <a:xfrm>
            <a:off x="1260043" y="2311603"/>
            <a:ext cx="588874" cy="588874"/>
          </a:xfrm>
          <a:prstGeom prst="rect">
            <a:avLst/>
          </a:prstGeom>
        </p:spPr>
      </p:pic>
      <p:sp>
        <p:nvSpPr>
          <p:cNvPr id="5" name="Text 2"/>
          <p:cNvSpPr txBox="1"/>
          <p:nvPr/>
        </p:nvSpPr>
        <p:spPr>
          <a:xfrm>
            <a:off x="548640" y="3429000"/>
            <a:ext cx="2011680" cy="365760"/>
          </a:xfrm>
          <a:prstGeom prst="rect">
            <a:avLst/>
          </a:prstGeom>
          <a:noFill/>
          <a:ln/>
        </p:spPr>
        <p:txBody>
          <a:bodyPr wrap="square" lIns="0" tIns="0" rIns="0" bIns="0" rtlCol="0" anchor="ctr"/>
          <a:lstStyle/>
          <a:p>
            <a:pPr algn="ctr" indent="0" marL="0">
              <a:buNone/>
            </a:pPr>
            <a:r>
              <a:rPr lang="en-US" sz="1800" b="1" dirty="0">
                <a:solidFill>
                  <a:srgbClr val="0B1F17"/>
                </a:solidFill>
                <a:latin typeface="Instrument Sans" pitchFamily="34" charset="0"/>
                <a:ea typeface="Instrument Sans" pitchFamily="34" charset="-122"/>
                <a:cs typeface="Instrument Sans" pitchFamily="34" charset="-120"/>
              </a:rPr>
              <a:t>GitHub</a:t>
            </a:r>
            <a:endParaRPr lang="en-US" sz="1800" dirty="0"/>
          </a:p>
        </p:txBody>
      </p:sp>
      <p:sp>
        <p:nvSpPr>
          <p:cNvPr id="6" name="Text 3"/>
          <p:cNvSpPr txBox="1"/>
          <p:nvPr/>
        </p:nvSpPr>
        <p:spPr>
          <a:xfrm>
            <a:off x="548640" y="3794760"/>
            <a:ext cx="2011680" cy="320040"/>
          </a:xfrm>
          <a:prstGeom prst="rect">
            <a:avLst/>
          </a:prstGeom>
          <a:noFill/>
          <a:ln/>
        </p:spPr>
        <p:txBody>
          <a:bodyPr wrap="square" lIns="0" tIns="0" rIns="0" bIns="0" rtlCol="0" anchor="ctr"/>
          <a:lstStyle/>
          <a:p>
            <a:pPr algn="ctr" indent="0" marL="0">
              <a:buNone/>
            </a:pPr>
            <a:r>
              <a:rPr lang="en-US" sz="1500" dirty="0">
                <a:solidFill>
                  <a:srgbClr val="5B7366"/>
                </a:solidFill>
                <a:latin typeface="Instrument Sans" pitchFamily="34" charset="0"/>
                <a:ea typeface="Instrument Sans" pitchFamily="34" charset="-122"/>
                <a:cs typeface="Instrument Sans" pitchFamily="34" charset="-120"/>
              </a:rPr>
              <a:t>les tâches</a:t>
            </a:r>
            <a:endParaRPr lang="en-US" sz="1500" dirty="0"/>
          </a:p>
        </p:txBody>
      </p:sp>
      <p:sp>
        <p:nvSpPr>
          <p:cNvPr id="7" name="Lien 1"/>
          <p:cNvSpPr/>
          <p:nvPr/>
        </p:nvSpPr>
        <p:spPr>
          <a:xfrm>
            <a:off x="2377440" y="2606040"/>
            <a:ext cx="914400" cy="0"/>
          </a:xfrm>
          <a:prstGeom prst="line">
            <a:avLst/>
          </a:prstGeom>
          <a:noFill/>
          <a:ln w="31750">
            <a:solidFill>
              <a:srgbClr val="9DC4AE"/>
            </a:solidFill>
            <a:prstDash val="solid"/>
            <a:tailEnd type="triangle"/>
          </a:ln>
        </p:spPr>
      </p:sp>
      <p:sp>
        <p:nvSpPr>
          <p:cNvPr id="8" name="BitBounty"/>
          <p:cNvSpPr/>
          <p:nvPr/>
        </p:nvSpPr>
        <p:spPr>
          <a:xfrm>
            <a:off x="3520440" y="1463040"/>
            <a:ext cx="2103120" cy="2103120"/>
          </a:xfrm>
          <a:prstGeom prst="ellipse">
            <a:avLst/>
          </a:prstGeom>
          <a:solidFill>
            <a:srgbClr val="167A45"/>
          </a:solidFill>
          <a:ln/>
        </p:spPr>
      </p:sp>
      <p:pic>
        <p:nvPicPr>
          <p:cNvPr id="9" name="BitBounty icône" descr="preencoded.png">    </p:cNvPr>
          <p:cNvPicPr>
            <a:picLocks noChangeAspect="1"/>
          </p:cNvPicPr>
          <p:nvPr/>
        </p:nvPicPr>
        <p:blipFill>
          <a:blip r:embed="rId2"/>
          <a:stretch>
            <a:fillRect/>
          </a:stretch>
        </p:blipFill>
        <p:spPr>
          <a:xfrm>
            <a:off x="4130345" y="2072945"/>
            <a:ext cx="883310" cy="883310"/>
          </a:xfrm>
          <a:prstGeom prst="rect">
            <a:avLst/>
          </a:prstGeom>
        </p:spPr>
      </p:pic>
      <p:sp>
        <p:nvSpPr>
          <p:cNvPr id="10" name="Text 6"/>
          <p:cNvSpPr txBox="1"/>
          <p:nvPr/>
        </p:nvSpPr>
        <p:spPr>
          <a:xfrm>
            <a:off x="3108960" y="3703320"/>
            <a:ext cx="2926080" cy="457200"/>
          </a:xfrm>
          <a:prstGeom prst="rect">
            <a:avLst/>
          </a:prstGeom>
          <a:noFill/>
          <a:ln/>
        </p:spPr>
        <p:txBody>
          <a:bodyPr wrap="square" lIns="0" tIns="0" rIns="0" bIns="0" rtlCol="0" anchor="ctr"/>
          <a:lstStyle/>
          <a:p>
            <a:pPr algn="ctr" indent="0" marL="0">
              <a:buNone/>
            </a:pPr>
            <a:r>
              <a:rPr lang="en-US" sz="2400" b="1" dirty="0">
                <a:solidFill>
                  <a:srgbClr val="0B1F17"/>
                </a:solidFill>
                <a:latin typeface="Bricolage Grotesque" pitchFamily="34" charset="0"/>
                <a:ea typeface="Bricolage Grotesque" pitchFamily="34" charset="-122"/>
                <a:cs typeface="Bricolage Grotesque" pitchFamily="34" charset="-120"/>
              </a:rPr>
              <a:t>BitBounty</a:t>
            </a:r>
            <a:endParaRPr lang="en-US" sz="2400" dirty="0"/>
          </a:p>
        </p:txBody>
      </p:sp>
      <p:sp>
        <p:nvSpPr>
          <p:cNvPr id="11" name="Lien 2"/>
          <p:cNvSpPr/>
          <p:nvPr/>
        </p:nvSpPr>
        <p:spPr>
          <a:xfrm>
            <a:off x="5852160" y="2606040"/>
            <a:ext cx="914400" cy="0"/>
          </a:xfrm>
          <a:prstGeom prst="line">
            <a:avLst/>
          </a:prstGeom>
          <a:noFill/>
          <a:ln w="31750">
            <a:solidFill>
              <a:srgbClr val="9DC4AE"/>
            </a:solidFill>
            <a:prstDash val="solid"/>
            <a:tailEnd type="triangle"/>
          </a:ln>
        </p:spPr>
      </p:sp>
      <p:sp>
        <p:nvSpPr>
          <p:cNvPr id="12" name="Bitnob"/>
          <p:cNvSpPr/>
          <p:nvPr/>
        </p:nvSpPr>
        <p:spPr>
          <a:xfrm>
            <a:off x="6949440" y="1965960"/>
            <a:ext cx="1280160" cy="1280160"/>
          </a:xfrm>
          <a:prstGeom prst="ellipse">
            <a:avLst/>
          </a:prstGeom>
          <a:solidFill>
            <a:srgbClr val="FFFFFF"/>
          </a:solidFill>
          <a:ln w="12700">
            <a:solidFill>
              <a:srgbClr val="E3E7E0"/>
            </a:solidFill>
            <a:prstDash val="solid"/>
          </a:ln>
        </p:spPr>
      </p:sp>
      <p:pic>
        <p:nvPicPr>
          <p:cNvPr id="13" name="Bitnob icône" descr="preencoded.png">    </p:cNvPr>
          <p:cNvPicPr>
            <a:picLocks noChangeAspect="1"/>
          </p:cNvPicPr>
          <p:nvPr/>
        </p:nvPicPr>
        <p:blipFill>
          <a:blip r:embed="rId3"/>
          <a:stretch>
            <a:fillRect/>
          </a:stretch>
        </p:blipFill>
        <p:spPr>
          <a:xfrm>
            <a:off x="7295083" y="2311603"/>
            <a:ext cx="588874" cy="588874"/>
          </a:xfrm>
          <a:prstGeom prst="rect">
            <a:avLst/>
          </a:prstGeom>
        </p:spPr>
      </p:pic>
      <p:sp>
        <p:nvSpPr>
          <p:cNvPr id="14" name="Text 9"/>
          <p:cNvSpPr txBox="1"/>
          <p:nvPr/>
        </p:nvSpPr>
        <p:spPr>
          <a:xfrm>
            <a:off x="6583680" y="3429000"/>
            <a:ext cx="2011680" cy="365760"/>
          </a:xfrm>
          <a:prstGeom prst="rect">
            <a:avLst/>
          </a:prstGeom>
          <a:noFill/>
          <a:ln/>
        </p:spPr>
        <p:txBody>
          <a:bodyPr wrap="square" lIns="0" tIns="0" rIns="0" bIns="0" rtlCol="0" anchor="ctr"/>
          <a:lstStyle/>
          <a:p>
            <a:pPr algn="ctr" indent="0" marL="0">
              <a:buNone/>
            </a:pPr>
            <a:r>
              <a:rPr lang="en-US" sz="1800" b="1" dirty="0">
                <a:solidFill>
                  <a:srgbClr val="0B1F17"/>
                </a:solidFill>
                <a:latin typeface="Instrument Sans" pitchFamily="34" charset="0"/>
                <a:ea typeface="Instrument Sans" pitchFamily="34" charset="-122"/>
                <a:cs typeface="Instrument Sans" pitchFamily="34" charset="-120"/>
              </a:rPr>
              <a:t>Bitnob</a:t>
            </a:r>
            <a:endParaRPr lang="en-US" sz="1800" dirty="0"/>
          </a:p>
        </p:txBody>
      </p:sp>
      <p:sp>
        <p:nvSpPr>
          <p:cNvPr id="15" name="Text 10"/>
          <p:cNvSpPr txBox="1"/>
          <p:nvPr/>
        </p:nvSpPr>
        <p:spPr>
          <a:xfrm>
            <a:off x="6583680" y="3794760"/>
            <a:ext cx="2011680" cy="320040"/>
          </a:xfrm>
          <a:prstGeom prst="rect">
            <a:avLst/>
          </a:prstGeom>
          <a:noFill/>
          <a:ln/>
        </p:spPr>
        <p:txBody>
          <a:bodyPr wrap="square" lIns="0" tIns="0" rIns="0" bIns="0" rtlCol="0" anchor="ctr"/>
          <a:lstStyle/>
          <a:p>
            <a:pPr algn="ctr" indent="0" marL="0">
              <a:buNone/>
            </a:pPr>
            <a:r>
              <a:rPr lang="en-US" sz="1500" dirty="0">
                <a:solidFill>
                  <a:srgbClr val="5B7366"/>
                </a:solidFill>
                <a:latin typeface="Instrument Sans" pitchFamily="34" charset="0"/>
                <a:ea typeface="Instrument Sans" pitchFamily="34" charset="-122"/>
                <a:cs typeface="Instrument Sans" pitchFamily="34" charset="-120"/>
              </a:rPr>
              <a:t>l'argent</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1. Vous mettez un prix</a:t>
            </a:r>
            <a:endParaRPr lang="en-US" sz="3200" dirty="0"/>
          </a:p>
        </p:txBody>
      </p:sp>
      <p:sp>
        <p:nvSpPr>
          <p:cNvPr id="3" name="Text 1"/>
          <p:cNvSpPr txBox="1"/>
          <p:nvPr/>
        </p:nvSpPr>
        <p:spPr>
          <a:xfrm>
            <a:off x="548640" y="1463040"/>
            <a:ext cx="8046720" cy="365760"/>
          </a:xfrm>
          <a:prstGeom prst="rect">
            <a:avLst/>
          </a:prstGeom>
          <a:noFill/>
          <a:ln/>
        </p:spPr>
        <p:txBody>
          <a:bodyPr wrap="square" lIns="0" tIns="0" rIns="0" bIns="0" rtlCol="0" anchor="ctr"/>
          <a:lstStyle/>
          <a:p>
            <a:pPr indent="0" marL="0">
              <a:buNone/>
            </a:pPr>
            <a:r>
              <a:rPr lang="en-US" sz="1700" dirty="0">
                <a:solidFill>
                  <a:srgbClr val="5B7366"/>
                </a:solidFill>
                <a:latin typeface="Instrument Sans" pitchFamily="34" charset="0"/>
                <a:ea typeface="Instrument Sans" pitchFamily="34" charset="-122"/>
                <a:cs typeface="Instrument Sans" pitchFamily="34" charset="-120"/>
              </a:rPr>
              <a:t>Un seul commentaire sur l'issue :</a:t>
            </a:r>
            <a:endParaRPr lang="en-US" sz="1700" dirty="0"/>
          </a:p>
        </p:txBody>
      </p:sp>
      <p:sp>
        <p:nvSpPr>
          <p:cNvPr id="4" name="Commande"/>
          <p:cNvSpPr/>
          <p:nvPr/>
        </p:nvSpPr>
        <p:spPr>
          <a:xfrm>
            <a:off x="548640" y="1920240"/>
            <a:ext cx="8046720" cy="1371600"/>
          </a:xfrm>
          <a:prstGeom prst="roundRect">
            <a:avLst>
              <a:gd name="adj" fmla="val 14667"/>
            </a:avLst>
          </a:prstGeom>
          <a:solidFill>
            <a:srgbClr val="0B1F17"/>
          </a:solidFill>
          <a:ln/>
          <a:effectLst>
            <a:outerShdw sx="100000" sy="100000" kx="0" ky="0" algn="bl" rotWithShape="0" blurRad="304800" dist="127000" dir="5400000">
              <a:srgbClr val="0B1F17">
                <a:alpha val="10000"/>
              </a:srgbClr>
            </a:outerShdw>
          </a:effectLst>
        </p:spPr>
      </p:sp>
      <p:sp>
        <p:nvSpPr>
          <p:cNvPr id="5" name="Text 3"/>
          <p:cNvSpPr txBox="1"/>
          <p:nvPr/>
        </p:nvSpPr>
        <p:spPr>
          <a:xfrm>
            <a:off x="914400" y="1920240"/>
            <a:ext cx="7315200" cy="1371600"/>
          </a:xfrm>
          <a:prstGeom prst="rect">
            <a:avLst/>
          </a:prstGeom>
          <a:noFill/>
          <a:ln/>
        </p:spPr>
        <p:txBody>
          <a:bodyPr wrap="square" lIns="0" tIns="0" rIns="0" bIns="0" rtlCol="0" anchor="ctr"/>
          <a:lstStyle/>
          <a:p>
            <a:pPr indent="0" marL="0">
              <a:buNone/>
            </a:pPr>
            <a:r>
              <a:rPr lang="en-US" sz="4800" dirty="0">
                <a:solidFill>
                  <a:srgbClr val="9DC4AE"/>
                </a:solidFill>
                <a:latin typeface="JetBrains Mono" pitchFamily="34" charset="0"/>
                <a:ea typeface="JetBrains Mono" pitchFamily="34" charset="-122"/>
                <a:cs typeface="JetBrains Mono" pitchFamily="34" charset="-120"/>
              </a:rPr>
              <a:t>/bounty </a:t>
            </a:r>
            <a:pPr indent="0" marL="0">
              <a:buNone/>
            </a:pPr>
            <a:r>
              <a:rPr lang="en-US" sz="4800" b="1" dirty="0">
                <a:solidFill>
                  <a:srgbClr val="FFFFFF"/>
                </a:solidFill>
                <a:latin typeface="JetBrains Mono" pitchFamily="34" charset="0"/>
                <a:ea typeface="JetBrains Mono" pitchFamily="34" charset="-122"/>
                <a:cs typeface="JetBrains Mono" pitchFamily="34" charset="-120"/>
              </a:rPr>
              <a:t>10000</a:t>
            </a:r>
            <a:endParaRPr lang="en-US" sz="4800" dirty="0"/>
          </a:p>
        </p:txBody>
      </p:sp>
      <p:pic>
        <p:nvPicPr>
          <p:cNvPr id="6" name="IA icône" descr="preencoded.png">    </p:cNvPr>
          <p:cNvPicPr>
            <a:picLocks noChangeAspect="1"/>
          </p:cNvPicPr>
          <p:nvPr/>
        </p:nvPicPr>
        <p:blipFill>
          <a:blip r:embed="rId1"/>
          <a:stretch>
            <a:fillRect/>
          </a:stretch>
        </p:blipFill>
        <p:spPr>
          <a:xfrm>
            <a:off x="548640" y="3895344"/>
            <a:ext cx="274320" cy="274320"/>
          </a:xfrm>
          <a:prstGeom prst="rect">
            <a:avLst/>
          </a:prstGeom>
        </p:spPr>
      </p:pic>
      <p:sp>
        <p:nvSpPr>
          <p:cNvPr id="7" name="Text 4"/>
          <p:cNvSpPr txBox="1"/>
          <p:nvPr/>
        </p:nvSpPr>
        <p:spPr>
          <a:xfrm>
            <a:off x="960120" y="3840480"/>
            <a:ext cx="3520440" cy="384048"/>
          </a:xfrm>
          <a:prstGeom prst="rect">
            <a:avLst/>
          </a:prstGeom>
          <a:noFill/>
          <a:ln/>
        </p:spPr>
        <p:txBody>
          <a:bodyPr wrap="square" lIns="0" tIns="0" rIns="0" bIns="0" rtlCol="0" anchor="ctr"/>
          <a:lstStyle/>
          <a:p>
            <a:pPr indent="0" marL="0">
              <a:buNone/>
            </a:pPr>
            <a:r>
              <a:rPr lang="en-US" sz="1500" dirty="0">
                <a:solidFill>
                  <a:srgbClr val="2C4337"/>
                </a:solidFill>
                <a:latin typeface="Instrument Sans" pitchFamily="34" charset="0"/>
                <a:ea typeface="Instrument Sans" pitchFamily="34" charset="-122"/>
                <a:cs typeface="Instrument Sans" pitchFamily="34" charset="-120"/>
              </a:rPr>
              <a:t>Pas sûr du prix ? L'IA en propose un.</a:t>
            </a:r>
            <a:endParaRPr lang="en-US" sz="1500" dirty="0"/>
          </a:p>
        </p:txBody>
      </p:sp>
      <p:pic>
        <p:nvPicPr>
          <p:cNvPr id="8" name="Coffre icône" descr="preencoded.png">    </p:cNvPr>
          <p:cNvPicPr>
            <a:picLocks noChangeAspect="1"/>
          </p:cNvPicPr>
          <p:nvPr/>
        </p:nvPicPr>
        <p:blipFill>
          <a:blip r:embed="rId2"/>
          <a:stretch>
            <a:fillRect/>
          </a:stretch>
        </p:blipFill>
        <p:spPr>
          <a:xfrm>
            <a:off x="4663440" y="3895344"/>
            <a:ext cx="274320" cy="274320"/>
          </a:xfrm>
          <a:prstGeom prst="rect">
            <a:avLst/>
          </a:prstGeom>
        </p:spPr>
      </p:pic>
      <p:sp>
        <p:nvSpPr>
          <p:cNvPr id="9" name="Text 5"/>
          <p:cNvSpPr txBox="1"/>
          <p:nvPr/>
        </p:nvSpPr>
        <p:spPr>
          <a:xfrm>
            <a:off x="5074920" y="3840480"/>
            <a:ext cx="3520440" cy="384048"/>
          </a:xfrm>
          <a:prstGeom prst="rect">
            <a:avLst/>
          </a:prstGeom>
          <a:noFill/>
          <a:ln/>
        </p:spPr>
        <p:txBody>
          <a:bodyPr wrap="square" lIns="0" tIns="0" rIns="0" bIns="0" rtlCol="0" anchor="ctr"/>
          <a:lstStyle/>
          <a:p>
            <a:pPr indent="0" marL="0">
              <a:buNone/>
            </a:pPr>
            <a:r>
              <a:rPr lang="en-US" sz="1500" dirty="0">
                <a:solidFill>
                  <a:srgbClr val="2C4337"/>
                </a:solidFill>
                <a:latin typeface="Instrument Sans" pitchFamily="34" charset="0"/>
                <a:ea typeface="Instrument Sans" pitchFamily="34" charset="-122"/>
                <a:cs typeface="Instrument Sans" pitchFamily="34" charset="-120"/>
              </a:rPr>
              <a:t>Bitnob garde l'argent jusqu'au merge.</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2. Un dev dit « je m'en occupe »</a:t>
            </a:r>
            <a:endParaRPr lang="en-US" sz="3200" dirty="0"/>
          </a:p>
        </p:txBody>
      </p:sp>
      <p:sp>
        <p:nvSpPr>
          <p:cNvPr id="3" name="Dev"/>
          <p:cNvSpPr/>
          <p:nvPr/>
        </p:nvSpPr>
        <p:spPr>
          <a:xfrm>
            <a:off x="822960" y="1600200"/>
            <a:ext cx="2103120" cy="2103120"/>
          </a:xfrm>
          <a:prstGeom prst="ellipse">
            <a:avLst/>
          </a:prstGeom>
          <a:solidFill>
            <a:srgbClr val="EEF0EA"/>
          </a:solidFill>
          <a:ln/>
        </p:spPr>
      </p:sp>
      <p:pic>
        <p:nvPicPr>
          <p:cNvPr id="4" name="Dev icône" descr="preencoded.png">    </p:cNvPr>
          <p:cNvPicPr>
            <a:picLocks noChangeAspect="1"/>
          </p:cNvPicPr>
          <p:nvPr/>
        </p:nvPicPr>
        <p:blipFill>
          <a:blip r:embed="rId1"/>
          <a:stretch>
            <a:fillRect/>
          </a:stretch>
        </p:blipFill>
        <p:spPr>
          <a:xfrm>
            <a:off x="1411834" y="2189074"/>
            <a:ext cx="925373" cy="925373"/>
          </a:xfrm>
          <a:prstGeom prst="rect">
            <a:avLst/>
          </a:prstGeom>
        </p:spPr>
      </p:pic>
      <p:sp>
        <p:nvSpPr>
          <p:cNvPr id="5" name="Text 2"/>
          <p:cNvSpPr txBox="1"/>
          <p:nvPr/>
        </p:nvSpPr>
        <p:spPr>
          <a:xfrm>
            <a:off x="548640" y="3840480"/>
            <a:ext cx="2651760" cy="365760"/>
          </a:xfrm>
          <a:prstGeom prst="rect">
            <a:avLst/>
          </a:prstGeom>
          <a:noFill/>
          <a:ln/>
        </p:spPr>
        <p:txBody>
          <a:bodyPr wrap="square" lIns="0" tIns="0" rIns="0" bIns="0" rtlCol="0" anchor="ctr"/>
          <a:lstStyle/>
          <a:p>
            <a:pPr algn="ctr" indent="0" marL="0">
              <a:buNone/>
            </a:pPr>
            <a:r>
              <a:rPr lang="en-US" sz="1700" b="1" dirty="0">
                <a:solidFill>
                  <a:srgbClr val="0B1F17"/>
                </a:solidFill>
                <a:latin typeface="Instrument Sans" pitchFamily="34" charset="0"/>
                <a:ea typeface="Instrument Sans" pitchFamily="34" charset="-122"/>
                <a:cs typeface="Instrument Sans" pitchFamily="34" charset="-120"/>
              </a:rPr>
              <a:t>Dev à Dakar</a:t>
            </a:r>
            <a:endParaRPr lang="en-US" sz="1700" dirty="0"/>
          </a:p>
        </p:txBody>
      </p:sp>
      <p:sp>
        <p:nvSpPr>
          <p:cNvPr id="6" name="Bulle"/>
          <p:cNvSpPr/>
          <p:nvPr/>
        </p:nvSpPr>
        <p:spPr>
          <a:xfrm>
            <a:off x="3246120" y="1554480"/>
            <a:ext cx="2651760" cy="1051560"/>
          </a:xfrm>
          <a:prstGeom prst="wedgeRoundRectCallout">
            <a:avLst/>
          </a:prstGeom>
          <a:solidFill>
            <a:srgbClr val="0B1F17"/>
          </a:solidFill>
          <a:ln/>
        </p:spPr>
      </p:sp>
      <p:sp>
        <p:nvSpPr>
          <p:cNvPr id="7" name="Text 4"/>
          <p:cNvSpPr txBox="1"/>
          <p:nvPr/>
        </p:nvSpPr>
        <p:spPr>
          <a:xfrm>
            <a:off x="3246120" y="1554480"/>
            <a:ext cx="2651760" cy="1051560"/>
          </a:xfrm>
          <a:prstGeom prst="rect">
            <a:avLst/>
          </a:prstGeom>
          <a:noFill/>
          <a:ln/>
        </p:spPr>
        <p:txBody>
          <a:bodyPr wrap="square" lIns="0" tIns="0" rIns="0" bIns="0" rtlCol="0" anchor="ctr"/>
          <a:lstStyle/>
          <a:p>
            <a:pPr algn="ctr" indent="0" marL="0">
              <a:buNone/>
            </a:pPr>
            <a:r>
              <a:rPr lang="en-US" sz="3200" dirty="0">
                <a:solidFill>
                  <a:srgbClr val="FFFFFF"/>
                </a:solidFill>
                <a:latin typeface="JetBrains Mono" pitchFamily="34" charset="0"/>
                <a:ea typeface="JetBrains Mono" pitchFamily="34" charset="-122"/>
                <a:cs typeface="JetBrains Mono" pitchFamily="34" charset="-120"/>
              </a:rPr>
              <a:t>/claim</a:t>
            </a:r>
            <a:endParaRPr lang="en-US" sz="3200" dirty="0"/>
          </a:p>
        </p:txBody>
      </p:sp>
      <p:sp>
        <p:nvSpPr>
          <p:cNvPr id="8" name="Flèche"/>
          <p:cNvSpPr/>
          <p:nvPr/>
        </p:nvSpPr>
        <p:spPr>
          <a:xfrm>
            <a:off x="6172200" y="3017520"/>
            <a:ext cx="822960" cy="0"/>
          </a:xfrm>
          <a:prstGeom prst="line">
            <a:avLst/>
          </a:prstGeom>
          <a:noFill/>
          <a:ln w="31750">
            <a:solidFill>
              <a:srgbClr val="9DC4AE"/>
            </a:solidFill>
            <a:prstDash val="solid"/>
            <a:tailEnd type="triangle"/>
          </a:ln>
        </p:spPr>
      </p:sp>
      <p:sp>
        <p:nvSpPr>
          <p:cNvPr id="9" name="Code"/>
          <p:cNvSpPr/>
          <p:nvPr/>
        </p:nvSpPr>
        <p:spPr>
          <a:xfrm>
            <a:off x="7178040" y="2423160"/>
            <a:ext cx="1188720" cy="1188720"/>
          </a:xfrm>
          <a:prstGeom prst="ellipse">
            <a:avLst/>
          </a:prstGeom>
          <a:solidFill>
            <a:srgbClr val="EFE8FC"/>
          </a:solidFill>
          <a:ln/>
        </p:spPr>
      </p:sp>
      <p:pic>
        <p:nvPicPr>
          <p:cNvPr id="10" name="Code icône" descr="preencoded.png">    </p:cNvPr>
          <p:cNvPicPr>
            <a:picLocks noChangeAspect="1"/>
          </p:cNvPicPr>
          <p:nvPr/>
        </p:nvPicPr>
        <p:blipFill>
          <a:blip r:embed="rId2"/>
          <a:stretch>
            <a:fillRect/>
          </a:stretch>
        </p:blipFill>
        <p:spPr>
          <a:xfrm>
            <a:off x="7498994" y="2744114"/>
            <a:ext cx="546811" cy="546811"/>
          </a:xfrm>
          <a:prstGeom prst="rect">
            <a:avLst/>
          </a:prstGeom>
        </p:spPr>
      </p:pic>
      <p:sp>
        <p:nvSpPr>
          <p:cNvPr id="11" name="Text 7"/>
          <p:cNvSpPr txBox="1"/>
          <p:nvPr/>
        </p:nvSpPr>
        <p:spPr>
          <a:xfrm>
            <a:off x="6720840" y="3703320"/>
            <a:ext cx="2103120" cy="365760"/>
          </a:xfrm>
          <a:prstGeom prst="rect">
            <a:avLst/>
          </a:prstGeom>
          <a:noFill/>
          <a:ln/>
        </p:spPr>
        <p:txBody>
          <a:bodyPr wrap="square" lIns="0" tIns="0" rIns="0" bIns="0" rtlCol="0" anchor="ctr"/>
          <a:lstStyle/>
          <a:p>
            <a:pPr algn="ctr" indent="0" marL="0">
              <a:buNone/>
            </a:pPr>
            <a:r>
              <a:rPr lang="en-US" sz="1500" dirty="0">
                <a:solidFill>
                  <a:srgbClr val="2C4337"/>
                </a:solidFill>
                <a:latin typeface="Instrument Sans" pitchFamily="34" charset="0"/>
                <a:ea typeface="Instrument Sans" pitchFamily="34" charset="-122"/>
                <a:cs typeface="Instrument Sans" pitchFamily="34" charset="-120"/>
              </a:rPr>
              <a:t>Il envoie son code</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3. L'IA vérifie, vous décidez</a:t>
            </a:r>
            <a:endParaRPr lang="en-US" sz="3200" dirty="0"/>
          </a:p>
        </p:txBody>
      </p:sp>
      <p:sp>
        <p:nvSpPr>
          <p:cNvPr id="3" name="Vérif"/>
          <p:cNvSpPr/>
          <p:nvPr/>
        </p:nvSpPr>
        <p:spPr>
          <a:xfrm>
            <a:off x="548640" y="1325880"/>
            <a:ext cx="4206240" cy="3017520"/>
          </a:xfrm>
          <a:prstGeom prst="roundRect">
            <a:avLst>
              <a:gd name="adj" fmla="val 6667"/>
            </a:avLst>
          </a:prstGeom>
          <a:solidFill>
            <a:srgbClr val="FFFFFF"/>
          </a:solidFill>
          <a:ln/>
          <a:effectLst>
            <a:outerShdw sx="100000" sy="100000" kx="0" ky="0" algn="bl" rotWithShape="0" blurRad="304800" dist="127000" dir="5400000">
              <a:srgbClr val="0B1F17">
                <a:alpha val="10000"/>
              </a:srgbClr>
            </a:outerShdw>
          </a:effectLst>
        </p:spPr>
      </p:sp>
      <p:pic>
        <p:nvPicPr>
          <p:cNvPr id="4" name="Robot" descr="preencoded.png">    </p:cNvPr>
          <p:cNvPicPr>
            <a:picLocks noChangeAspect="1"/>
          </p:cNvPicPr>
          <p:nvPr/>
        </p:nvPicPr>
        <p:blipFill>
          <a:blip r:embed="rId1"/>
          <a:stretch>
            <a:fillRect/>
          </a:stretch>
        </p:blipFill>
        <p:spPr>
          <a:xfrm>
            <a:off x="868680" y="1600200"/>
            <a:ext cx="384048" cy="384048"/>
          </a:xfrm>
          <a:prstGeom prst="rect">
            <a:avLst/>
          </a:prstGeom>
        </p:spPr>
      </p:pic>
      <p:sp>
        <p:nvSpPr>
          <p:cNvPr id="5" name="Text 2"/>
          <p:cNvSpPr txBox="1"/>
          <p:nvPr/>
        </p:nvSpPr>
        <p:spPr>
          <a:xfrm>
            <a:off x="1417320" y="1554480"/>
            <a:ext cx="3108960" cy="502920"/>
          </a:xfrm>
          <a:prstGeom prst="rect">
            <a:avLst/>
          </a:prstGeom>
          <a:noFill/>
          <a:ln/>
        </p:spPr>
        <p:txBody>
          <a:bodyPr wrap="square" lIns="0" tIns="0" rIns="0" bIns="0" rtlCol="0" anchor="ctr"/>
          <a:lstStyle/>
          <a:p>
            <a:pPr indent="0" marL="0">
              <a:buNone/>
            </a:pPr>
            <a:r>
              <a:rPr lang="en-US" sz="2200" b="1" dirty="0">
                <a:solidFill>
                  <a:srgbClr val="0B1F17"/>
                </a:solidFill>
                <a:latin typeface="Bricolage Grotesque" pitchFamily="34" charset="0"/>
                <a:ea typeface="Bricolage Grotesque" pitchFamily="34" charset="-122"/>
                <a:cs typeface="Bricolage Grotesque" pitchFamily="34" charset="-120"/>
              </a:rPr>
              <a:t>Ça marche ?</a:t>
            </a:r>
            <a:endParaRPr lang="en-US" sz="2200" dirty="0"/>
          </a:p>
        </p:txBody>
      </p:sp>
      <p:pic>
        <p:nvPicPr>
          <p:cNvPr id="6" name="Critère 1" descr="preencoded.png">    </p:cNvPr>
          <p:cNvPicPr>
            <a:picLocks noChangeAspect="1"/>
          </p:cNvPicPr>
          <p:nvPr/>
        </p:nvPicPr>
        <p:blipFill>
          <a:blip r:embed="rId2"/>
          <a:stretch>
            <a:fillRect/>
          </a:stretch>
        </p:blipFill>
        <p:spPr>
          <a:xfrm>
            <a:off x="896112" y="2395728"/>
            <a:ext cx="329184" cy="329184"/>
          </a:xfrm>
          <a:prstGeom prst="rect">
            <a:avLst/>
          </a:prstGeom>
        </p:spPr>
      </p:pic>
      <p:sp>
        <p:nvSpPr>
          <p:cNvPr id="7" name="Text 3"/>
          <p:cNvSpPr txBox="1"/>
          <p:nvPr/>
        </p:nvSpPr>
        <p:spPr>
          <a:xfrm>
            <a:off x="1417320" y="2331720"/>
            <a:ext cx="3200400" cy="457200"/>
          </a:xfrm>
          <a:prstGeom prst="rect">
            <a:avLst/>
          </a:prstGeom>
          <a:noFill/>
          <a:ln/>
        </p:spPr>
        <p:txBody>
          <a:bodyPr wrap="square" lIns="0" tIns="0" rIns="0" bIns="0" rtlCol="0" anchor="ctr"/>
          <a:lstStyle/>
          <a:p>
            <a:pPr indent="0" marL="0">
              <a:buNone/>
            </a:pPr>
            <a:r>
              <a:rPr lang="en-US" sz="1700" dirty="0">
                <a:solidFill>
                  <a:srgbClr val="2C4337"/>
                </a:solidFill>
                <a:latin typeface="Instrument Sans" pitchFamily="34" charset="0"/>
                <a:ea typeface="Instrument Sans" pitchFamily="34" charset="-122"/>
                <a:cs typeface="Instrument Sans" pitchFamily="34" charset="-120"/>
              </a:rPr>
              <a:t>Ça fait ce qui est demandé</a:t>
            </a:r>
            <a:endParaRPr lang="en-US" sz="1700" dirty="0"/>
          </a:p>
        </p:txBody>
      </p:sp>
      <p:pic>
        <p:nvPicPr>
          <p:cNvPr id="8" name="Critère 2" descr="preencoded.png">    </p:cNvPr>
          <p:cNvPicPr>
            <a:picLocks noChangeAspect="1"/>
          </p:cNvPicPr>
          <p:nvPr/>
        </p:nvPicPr>
        <p:blipFill>
          <a:blip r:embed="rId3"/>
          <a:stretch>
            <a:fillRect/>
          </a:stretch>
        </p:blipFill>
        <p:spPr>
          <a:xfrm>
            <a:off x="896112" y="2962656"/>
            <a:ext cx="329184" cy="329184"/>
          </a:xfrm>
          <a:prstGeom prst="rect">
            <a:avLst/>
          </a:prstGeom>
        </p:spPr>
      </p:pic>
      <p:sp>
        <p:nvSpPr>
          <p:cNvPr id="9" name="Text 4"/>
          <p:cNvSpPr txBox="1"/>
          <p:nvPr/>
        </p:nvSpPr>
        <p:spPr>
          <a:xfrm>
            <a:off x="1417320" y="2898648"/>
            <a:ext cx="3200400" cy="457200"/>
          </a:xfrm>
          <a:prstGeom prst="rect">
            <a:avLst/>
          </a:prstGeom>
          <a:noFill/>
          <a:ln/>
        </p:spPr>
        <p:txBody>
          <a:bodyPr wrap="square" lIns="0" tIns="0" rIns="0" bIns="0" rtlCol="0" anchor="ctr"/>
          <a:lstStyle/>
          <a:p>
            <a:pPr indent="0" marL="0">
              <a:buNone/>
            </a:pPr>
            <a:r>
              <a:rPr lang="en-US" sz="1700" dirty="0">
                <a:solidFill>
                  <a:srgbClr val="2C4337"/>
                </a:solidFill>
                <a:latin typeface="Instrument Sans" pitchFamily="34" charset="0"/>
                <a:ea typeface="Instrument Sans" pitchFamily="34" charset="-122"/>
                <a:cs typeface="Instrument Sans" pitchFamily="34" charset="-120"/>
              </a:rPr>
              <a:t>Les tests passent</a:t>
            </a:r>
            <a:endParaRPr lang="en-US" sz="1700" dirty="0"/>
          </a:p>
        </p:txBody>
      </p:sp>
      <p:pic>
        <p:nvPicPr>
          <p:cNvPr id="10" name="Critère 3" descr="preencoded.png">    </p:cNvPr>
          <p:cNvPicPr>
            <a:picLocks noChangeAspect="1"/>
          </p:cNvPicPr>
          <p:nvPr/>
        </p:nvPicPr>
        <p:blipFill>
          <a:blip r:embed="rId4"/>
          <a:stretch>
            <a:fillRect/>
          </a:stretch>
        </p:blipFill>
        <p:spPr>
          <a:xfrm>
            <a:off x="896112" y="3529584"/>
            <a:ext cx="329184" cy="329184"/>
          </a:xfrm>
          <a:prstGeom prst="rect">
            <a:avLst/>
          </a:prstGeom>
        </p:spPr>
      </p:pic>
      <p:sp>
        <p:nvSpPr>
          <p:cNvPr id="11" name="Text 5"/>
          <p:cNvSpPr txBox="1"/>
          <p:nvPr/>
        </p:nvSpPr>
        <p:spPr>
          <a:xfrm>
            <a:off x="1417320" y="3465576"/>
            <a:ext cx="3200400" cy="457200"/>
          </a:xfrm>
          <a:prstGeom prst="rect">
            <a:avLst/>
          </a:prstGeom>
          <a:noFill/>
          <a:ln/>
        </p:spPr>
        <p:txBody>
          <a:bodyPr wrap="square" lIns="0" tIns="0" rIns="0" bIns="0" rtlCol="0" anchor="ctr"/>
          <a:lstStyle/>
          <a:p>
            <a:pPr indent="0" marL="0">
              <a:buNone/>
            </a:pPr>
            <a:r>
              <a:rPr lang="en-US" sz="1700" dirty="0">
                <a:solidFill>
                  <a:srgbClr val="2C4337"/>
                </a:solidFill>
                <a:latin typeface="Instrument Sans" pitchFamily="34" charset="0"/>
                <a:ea typeface="Instrument Sans" pitchFamily="34" charset="-122"/>
                <a:cs typeface="Instrument Sans" pitchFamily="34" charset="-120"/>
              </a:rPr>
              <a:t>Rien n'est cassé</a:t>
            </a:r>
            <a:endParaRPr lang="en-US" sz="1700" dirty="0"/>
          </a:p>
        </p:txBody>
      </p:sp>
      <p:sp>
        <p:nvSpPr>
          <p:cNvPr id="12" name="Flèche 1"/>
          <p:cNvSpPr/>
          <p:nvPr/>
        </p:nvSpPr>
        <p:spPr>
          <a:xfrm>
            <a:off x="4983480" y="2834640"/>
            <a:ext cx="640080" cy="0"/>
          </a:xfrm>
          <a:prstGeom prst="line">
            <a:avLst/>
          </a:prstGeom>
          <a:noFill/>
          <a:ln w="31750">
            <a:solidFill>
              <a:srgbClr val="9DC4AE"/>
            </a:solidFill>
            <a:prstDash val="solid"/>
            <a:tailEnd type="triangle"/>
          </a:ln>
        </p:spPr>
      </p:sp>
      <p:sp>
        <p:nvSpPr>
          <p:cNvPr id="13" name="Vous"/>
          <p:cNvSpPr/>
          <p:nvPr/>
        </p:nvSpPr>
        <p:spPr>
          <a:xfrm>
            <a:off x="5806440" y="2240280"/>
            <a:ext cx="1188720" cy="1188720"/>
          </a:xfrm>
          <a:prstGeom prst="ellipse">
            <a:avLst/>
          </a:prstGeom>
          <a:solidFill>
            <a:srgbClr val="EEF0EA"/>
          </a:solidFill>
          <a:ln/>
        </p:spPr>
      </p:sp>
      <p:pic>
        <p:nvPicPr>
          <p:cNvPr id="14" name="Vous icône" descr="preencoded.png">    </p:cNvPr>
          <p:cNvPicPr>
            <a:picLocks noChangeAspect="1"/>
          </p:cNvPicPr>
          <p:nvPr/>
        </p:nvPicPr>
        <p:blipFill>
          <a:blip r:embed="rId5"/>
          <a:stretch>
            <a:fillRect/>
          </a:stretch>
        </p:blipFill>
        <p:spPr>
          <a:xfrm>
            <a:off x="6127394" y="2561234"/>
            <a:ext cx="546811" cy="546811"/>
          </a:xfrm>
          <a:prstGeom prst="rect">
            <a:avLst/>
          </a:prstGeom>
        </p:spPr>
      </p:pic>
      <p:sp>
        <p:nvSpPr>
          <p:cNvPr id="15" name="Text 8"/>
          <p:cNvSpPr txBox="1"/>
          <p:nvPr/>
        </p:nvSpPr>
        <p:spPr>
          <a:xfrm>
            <a:off x="5486400" y="3566160"/>
            <a:ext cx="1828800" cy="365760"/>
          </a:xfrm>
          <a:prstGeom prst="rect">
            <a:avLst/>
          </a:prstGeom>
          <a:noFill/>
          <a:ln/>
        </p:spPr>
        <p:txBody>
          <a:bodyPr wrap="square" lIns="0" tIns="0" rIns="0" bIns="0" rtlCol="0" anchor="ctr"/>
          <a:lstStyle/>
          <a:p>
            <a:pPr algn="ctr" indent="0" marL="0">
              <a:buNone/>
            </a:pPr>
            <a:r>
              <a:rPr lang="en-US" sz="1500" dirty="0">
                <a:solidFill>
                  <a:srgbClr val="2C4337"/>
                </a:solidFill>
                <a:latin typeface="Instrument Sans" pitchFamily="34" charset="0"/>
                <a:ea typeface="Instrument Sans" pitchFamily="34" charset="-122"/>
                <a:cs typeface="Instrument Sans" pitchFamily="34" charset="-120"/>
              </a:rPr>
              <a:t>Vous validez</a:t>
            </a:r>
            <a:endParaRPr lang="en-US" sz="1500" dirty="0"/>
          </a:p>
        </p:txBody>
      </p:sp>
      <p:sp>
        <p:nvSpPr>
          <p:cNvPr id="16" name="Flèche 2"/>
          <p:cNvSpPr/>
          <p:nvPr/>
        </p:nvSpPr>
        <p:spPr>
          <a:xfrm>
            <a:off x="7132320" y="2834640"/>
            <a:ext cx="411480" cy="0"/>
          </a:xfrm>
          <a:prstGeom prst="line">
            <a:avLst/>
          </a:prstGeom>
          <a:noFill/>
          <a:ln w="31750">
            <a:solidFill>
              <a:srgbClr val="9DC4AE"/>
            </a:solidFill>
            <a:prstDash val="solid"/>
            <a:tailEnd type="triangle"/>
          </a:ln>
        </p:spPr>
      </p:sp>
      <p:sp>
        <p:nvSpPr>
          <p:cNvPr id="17" name="Merge"/>
          <p:cNvSpPr/>
          <p:nvPr/>
        </p:nvSpPr>
        <p:spPr>
          <a:xfrm>
            <a:off x="7635240" y="2377440"/>
            <a:ext cx="914400" cy="914400"/>
          </a:xfrm>
          <a:prstGeom prst="ellipse">
            <a:avLst/>
          </a:prstGeom>
          <a:solidFill>
            <a:srgbClr val="8250DF"/>
          </a:solidFill>
          <a:ln/>
        </p:spPr>
      </p:sp>
      <p:pic>
        <p:nvPicPr>
          <p:cNvPr id="18" name="Merge icône" descr="preencoded.png">    </p:cNvPr>
          <p:cNvPicPr>
            <a:picLocks noChangeAspect="1"/>
          </p:cNvPicPr>
          <p:nvPr/>
        </p:nvPicPr>
        <p:blipFill>
          <a:blip r:embed="rId6"/>
          <a:stretch>
            <a:fillRect/>
          </a:stretch>
        </p:blipFill>
        <p:spPr>
          <a:xfrm>
            <a:off x="7882128" y="2624328"/>
            <a:ext cx="420624" cy="420624"/>
          </a:xfrm>
          <a:prstGeom prst="rect">
            <a:avLst/>
          </a:prstGeom>
        </p:spPr>
      </p:pic>
      <p:sp>
        <p:nvSpPr>
          <p:cNvPr id="19" name="Text 11"/>
          <p:cNvSpPr txBox="1"/>
          <p:nvPr/>
        </p:nvSpPr>
        <p:spPr>
          <a:xfrm>
            <a:off x="7406640" y="3566160"/>
            <a:ext cx="1371600" cy="365760"/>
          </a:xfrm>
          <a:prstGeom prst="rect">
            <a:avLst/>
          </a:prstGeom>
          <a:noFill/>
          <a:ln/>
        </p:spPr>
        <p:txBody>
          <a:bodyPr wrap="square" lIns="0" tIns="0" rIns="0" bIns="0" rtlCol="0" anchor="ctr"/>
          <a:lstStyle/>
          <a:p>
            <a:pPr algn="ctr" indent="0" marL="0">
              <a:buNone/>
            </a:pPr>
            <a:r>
              <a:rPr lang="en-US" sz="1500" b="1" dirty="0">
                <a:solidFill>
                  <a:srgbClr val="8250DF"/>
                </a:solidFill>
                <a:latin typeface="Instrument Sans" pitchFamily="34" charset="0"/>
                <a:ea typeface="Instrument Sans" pitchFamily="34" charset="-122"/>
                <a:cs typeface="Instrument Sans" pitchFamily="34" charset="-120"/>
              </a:rPr>
              <a:t>Mergé</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Bricolage Grotesque" pitchFamily="34" charset="0"/>
                <a:ea typeface="Bricolage Grotesque" pitchFamily="34" charset="-122"/>
                <a:cs typeface="Bricolage Grotesque" pitchFamily="34" charset="-120"/>
              </a:rPr>
              <a:t>4. Mergé = payé</a:t>
            </a:r>
            <a:endParaRPr lang="en-US" sz="3200" dirty="0"/>
          </a:p>
        </p:txBody>
      </p:sp>
      <p:sp>
        <p:nvSpPr>
          <p:cNvPr id="3" name="Sats"/>
          <p:cNvSpPr/>
          <p:nvPr/>
        </p:nvSpPr>
        <p:spPr>
          <a:xfrm>
            <a:off x="548640" y="1874520"/>
            <a:ext cx="868680" cy="868680"/>
          </a:xfrm>
          <a:prstGeom prst="ellipse">
            <a:avLst/>
          </a:prstGeom>
          <a:solidFill>
            <a:srgbClr val="FDF1D8"/>
          </a:solidFill>
          <a:ln/>
        </p:spPr>
      </p:sp>
      <p:pic>
        <p:nvPicPr>
          <p:cNvPr id="4" name="Sats icône" descr="preencoded.png">    </p:cNvPr>
          <p:cNvPicPr>
            <a:picLocks noChangeAspect="1"/>
          </p:cNvPicPr>
          <p:nvPr/>
        </p:nvPicPr>
        <p:blipFill>
          <a:blip r:embed="rId1"/>
          <a:stretch>
            <a:fillRect/>
          </a:stretch>
        </p:blipFill>
        <p:spPr>
          <a:xfrm>
            <a:off x="765810" y="2091690"/>
            <a:ext cx="434340" cy="434340"/>
          </a:xfrm>
          <a:prstGeom prst="rect">
            <a:avLst/>
          </a:prstGeom>
        </p:spPr>
      </p:pic>
      <p:sp>
        <p:nvSpPr>
          <p:cNvPr id="5" name="Flèche 1"/>
          <p:cNvSpPr/>
          <p:nvPr/>
        </p:nvSpPr>
        <p:spPr>
          <a:xfrm>
            <a:off x="1554480" y="2304288"/>
            <a:ext cx="548640" cy="0"/>
          </a:xfrm>
          <a:prstGeom prst="line">
            <a:avLst/>
          </a:prstGeom>
          <a:noFill/>
          <a:ln w="31750">
            <a:solidFill>
              <a:srgbClr val="9DC4AE"/>
            </a:solidFill>
            <a:prstDash val="solid"/>
            <a:tailEnd type="triangle"/>
          </a:ln>
        </p:spPr>
      </p:sp>
      <p:sp>
        <p:nvSpPr>
          <p:cNvPr id="6" name="Bitnob"/>
          <p:cNvSpPr/>
          <p:nvPr/>
        </p:nvSpPr>
        <p:spPr>
          <a:xfrm>
            <a:off x="2240280" y="1874520"/>
            <a:ext cx="868680" cy="868680"/>
          </a:xfrm>
          <a:prstGeom prst="ellipse">
            <a:avLst/>
          </a:prstGeom>
          <a:solidFill>
            <a:srgbClr val="0B1F17"/>
          </a:solidFill>
          <a:ln/>
        </p:spPr>
      </p:sp>
      <p:pic>
        <p:nvPicPr>
          <p:cNvPr id="7" name="Bitnob icône" descr="preencoded.png">    </p:cNvPr>
          <p:cNvPicPr>
            <a:picLocks noChangeAspect="1"/>
          </p:cNvPicPr>
          <p:nvPr/>
        </p:nvPicPr>
        <p:blipFill>
          <a:blip r:embed="rId2"/>
          <a:stretch>
            <a:fillRect/>
          </a:stretch>
        </p:blipFill>
        <p:spPr>
          <a:xfrm>
            <a:off x="2483510" y="2117750"/>
            <a:ext cx="382219" cy="382219"/>
          </a:xfrm>
          <a:prstGeom prst="rect">
            <a:avLst/>
          </a:prstGeom>
        </p:spPr>
      </p:pic>
      <p:sp>
        <p:nvSpPr>
          <p:cNvPr id="8" name="Flèche 2"/>
          <p:cNvSpPr/>
          <p:nvPr/>
        </p:nvSpPr>
        <p:spPr>
          <a:xfrm>
            <a:off x="3246120" y="2304288"/>
            <a:ext cx="548640" cy="0"/>
          </a:xfrm>
          <a:prstGeom prst="line">
            <a:avLst/>
          </a:prstGeom>
          <a:noFill/>
          <a:ln w="31750">
            <a:solidFill>
              <a:srgbClr val="9DC4AE"/>
            </a:solidFill>
            <a:prstDash val="solid"/>
            <a:tailEnd type="triangle"/>
          </a:ln>
        </p:spPr>
      </p:sp>
      <p:sp>
        <p:nvSpPr>
          <p:cNvPr id="9" name="Wave"/>
          <p:cNvSpPr/>
          <p:nvPr/>
        </p:nvSpPr>
        <p:spPr>
          <a:xfrm>
            <a:off x="3931920" y="1874520"/>
            <a:ext cx="868680" cy="868680"/>
          </a:xfrm>
          <a:prstGeom prst="ellipse">
            <a:avLst/>
          </a:prstGeom>
          <a:solidFill>
            <a:srgbClr val="E3F1E8"/>
          </a:solidFill>
          <a:ln/>
        </p:spPr>
      </p:sp>
      <p:pic>
        <p:nvPicPr>
          <p:cNvPr id="10" name="Wave icône" descr="preencoded.png">    </p:cNvPr>
          <p:cNvPicPr>
            <a:picLocks noChangeAspect="1"/>
          </p:cNvPicPr>
          <p:nvPr/>
        </p:nvPicPr>
        <p:blipFill>
          <a:blip r:embed="rId3"/>
          <a:stretch>
            <a:fillRect/>
          </a:stretch>
        </p:blipFill>
        <p:spPr>
          <a:xfrm>
            <a:off x="4166464" y="2109064"/>
            <a:ext cx="399593" cy="399593"/>
          </a:xfrm>
          <a:prstGeom prst="rect">
            <a:avLst/>
          </a:prstGeom>
        </p:spPr>
      </p:pic>
      <p:sp>
        <p:nvSpPr>
          <p:cNvPr id="11" name="Text 6"/>
          <p:cNvSpPr txBox="1"/>
          <p:nvPr/>
        </p:nvSpPr>
        <p:spPr>
          <a:xfrm>
            <a:off x="548640" y="2971800"/>
            <a:ext cx="4389120" cy="685800"/>
          </a:xfrm>
          <a:prstGeom prst="rect">
            <a:avLst/>
          </a:prstGeom>
          <a:noFill/>
          <a:ln/>
        </p:spPr>
        <p:txBody>
          <a:bodyPr wrap="square" lIns="0" tIns="0" rIns="0" bIns="0" rtlCol="0" anchor="ctr"/>
          <a:lstStyle/>
          <a:p>
            <a:pPr indent="0" marL="0">
              <a:buNone/>
            </a:pPr>
            <a:r>
              <a:rPr lang="en-US" sz="1700" dirty="0">
                <a:solidFill>
                  <a:srgbClr val="2C4337"/>
                </a:solidFill>
                <a:latin typeface="Instrument Sans" pitchFamily="34" charset="0"/>
                <a:ea typeface="Instrument Sans" pitchFamily="34" charset="-122"/>
                <a:cs typeface="Instrument Sans" pitchFamily="34" charset="-120"/>
              </a:rPr>
              <a:t>Les sats deviennent des FCFA sur Wave.</a:t>
            </a:r>
            <a:endParaRPr lang="en-US" sz="1700" dirty="0"/>
          </a:p>
        </p:txBody>
      </p:sp>
      <p:sp>
        <p:nvSpPr>
          <p:cNvPr id="12" name="Text 7"/>
          <p:cNvSpPr txBox="1"/>
          <p:nvPr/>
        </p:nvSpPr>
        <p:spPr>
          <a:xfrm>
            <a:off x="548640" y="3611880"/>
            <a:ext cx="4389120" cy="411480"/>
          </a:xfrm>
          <a:prstGeom prst="rect">
            <a:avLst/>
          </a:prstGeom>
          <a:noFill/>
          <a:ln/>
        </p:spPr>
        <p:txBody>
          <a:bodyPr wrap="square" lIns="0" tIns="0" rIns="0" bIns="0" rtlCol="0" anchor="ctr"/>
          <a:lstStyle/>
          <a:p>
            <a:pPr indent="0" marL="0">
              <a:buNone/>
            </a:pPr>
            <a:r>
              <a:rPr lang="en-US" sz="1700" b="1" dirty="0">
                <a:solidFill>
                  <a:srgbClr val="0B1F17"/>
                </a:solidFill>
                <a:latin typeface="Instrument Sans" pitchFamily="34" charset="0"/>
                <a:ea typeface="Instrument Sans" pitchFamily="34" charset="-122"/>
                <a:cs typeface="Instrument Sans" pitchFamily="34" charset="-120"/>
              </a:rPr>
              <a:t>En 6 minutes.</a:t>
            </a:r>
            <a:endParaRPr lang="en-US" sz="1700" dirty="0"/>
          </a:p>
        </p:txBody>
      </p:sp>
      <p:sp>
        <p:nvSpPr>
          <p:cNvPr id="13" name="Téléphone"/>
          <p:cNvSpPr/>
          <p:nvPr/>
        </p:nvSpPr>
        <p:spPr>
          <a:xfrm>
            <a:off x="5623560" y="1143000"/>
            <a:ext cx="2514600" cy="3566160"/>
          </a:xfrm>
          <a:prstGeom prst="roundRect">
            <a:avLst>
              <a:gd name="adj" fmla="val 12727"/>
            </a:avLst>
          </a:prstGeom>
          <a:solidFill>
            <a:srgbClr val="0B1F17"/>
          </a:solidFill>
          <a:ln/>
          <a:effectLst>
            <a:outerShdw sx="100000" sy="100000" kx="0" ky="0" algn="bl" rotWithShape="0" blurRad="304800" dist="127000" dir="5400000">
              <a:srgbClr val="0B1F17">
                <a:alpha val="10000"/>
              </a:srgbClr>
            </a:outerShdw>
          </a:effectLst>
        </p:spPr>
      </p:sp>
      <p:sp>
        <p:nvSpPr>
          <p:cNvPr id="14" name="Écran"/>
          <p:cNvSpPr/>
          <p:nvPr/>
        </p:nvSpPr>
        <p:spPr>
          <a:xfrm>
            <a:off x="5751576" y="1271016"/>
            <a:ext cx="2258568" cy="3310128"/>
          </a:xfrm>
          <a:prstGeom prst="roundRect">
            <a:avLst>
              <a:gd name="adj" fmla="val 10526"/>
            </a:avLst>
          </a:prstGeom>
          <a:solidFill>
            <a:srgbClr val="13291F"/>
          </a:solidFill>
          <a:ln/>
        </p:spPr>
      </p:sp>
      <p:sp>
        <p:nvSpPr>
          <p:cNvPr id="15" name="Encoche"/>
          <p:cNvSpPr/>
          <p:nvPr/>
        </p:nvSpPr>
        <p:spPr>
          <a:xfrm>
            <a:off x="6565392" y="1371600"/>
            <a:ext cx="640080" cy="118872"/>
          </a:xfrm>
          <a:prstGeom prst="roundRect">
            <a:avLst>
              <a:gd name="adj" fmla="val 46154"/>
            </a:avLst>
          </a:prstGeom>
          <a:solidFill>
            <a:srgbClr val="0B1F17"/>
          </a:solidFill>
          <a:ln/>
        </p:spPr>
      </p:sp>
      <p:sp>
        <p:nvSpPr>
          <p:cNvPr id="16" name="Notification"/>
          <p:cNvSpPr/>
          <p:nvPr/>
        </p:nvSpPr>
        <p:spPr>
          <a:xfrm>
            <a:off x="5852160" y="2057400"/>
            <a:ext cx="2057400" cy="1417320"/>
          </a:xfrm>
          <a:prstGeom prst="roundRect">
            <a:avLst>
              <a:gd name="adj" fmla="val 11613"/>
            </a:avLst>
          </a:prstGeom>
          <a:solidFill>
            <a:srgbClr val="FFFFFF"/>
          </a:solidFill>
          <a:ln/>
          <a:effectLst>
            <a:outerShdw sx="100000" sy="100000" kx="0" ky="0" algn="bl" rotWithShape="0" blurRad="304800" dist="127000" dir="5400000">
              <a:srgbClr val="0B1F17">
                <a:alpha val="10000"/>
              </a:srgbClr>
            </a:outerShdw>
          </a:effectLst>
        </p:spPr>
      </p:sp>
      <p:sp>
        <p:nvSpPr>
          <p:cNvPr id="17" name="Text 12"/>
          <p:cNvSpPr txBox="1"/>
          <p:nvPr/>
        </p:nvSpPr>
        <p:spPr>
          <a:xfrm>
            <a:off x="6080760" y="2176272"/>
            <a:ext cx="1737360" cy="274320"/>
          </a:xfrm>
          <a:prstGeom prst="rect">
            <a:avLst/>
          </a:prstGeom>
          <a:noFill/>
          <a:ln/>
        </p:spPr>
        <p:txBody>
          <a:bodyPr wrap="square" lIns="0" tIns="0" rIns="0" bIns="0" rtlCol="0" anchor="ctr"/>
          <a:lstStyle/>
          <a:p>
            <a:pPr indent="0" marL="0">
              <a:buNone/>
            </a:pPr>
            <a:r>
              <a:rPr lang="en-US" sz="1300" b="1" dirty="0">
                <a:solidFill>
                  <a:srgbClr val="5B7366"/>
                </a:solidFill>
                <a:latin typeface="Instrument Sans" pitchFamily="34" charset="0"/>
                <a:ea typeface="Instrument Sans" pitchFamily="34" charset="-122"/>
                <a:cs typeface="Instrument Sans" pitchFamily="34" charset="-120"/>
              </a:rPr>
              <a:t>Wave</a:t>
            </a:r>
            <a:endParaRPr lang="en-US" sz="1300" dirty="0"/>
          </a:p>
        </p:txBody>
      </p:sp>
      <p:sp>
        <p:nvSpPr>
          <p:cNvPr id="18" name="Text 13"/>
          <p:cNvSpPr txBox="1"/>
          <p:nvPr/>
        </p:nvSpPr>
        <p:spPr>
          <a:xfrm>
            <a:off x="6080760" y="2468880"/>
            <a:ext cx="1828800" cy="548640"/>
          </a:xfrm>
          <a:prstGeom prst="rect">
            <a:avLst/>
          </a:prstGeom>
          <a:noFill/>
          <a:ln/>
        </p:spPr>
        <p:txBody>
          <a:bodyPr wrap="square" lIns="0" tIns="0" rIns="0" bIns="0" rtlCol="0" anchor="ctr"/>
          <a:lstStyle/>
          <a:p>
            <a:pPr indent="0" marL="0">
              <a:buNone/>
            </a:pPr>
            <a:r>
              <a:rPr lang="en-US" sz="2800" b="1" dirty="0">
                <a:solidFill>
                  <a:srgbClr val="167A45"/>
                </a:solidFill>
                <a:latin typeface="Bricolage Grotesque" pitchFamily="34" charset="0"/>
                <a:ea typeface="Bricolage Grotesque" pitchFamily="34" charset="-122"/>
                <a:cs typeface="Bricolage Grotesque" pitchFamily="34" charset="-120"/>
              </a:rPr>
              <a:t>+10 000 F</a:t>
            </a:r>
            <a:endParaRPr lang="en-US" sz="2800" dirty="0"/>
          </a:p>
        </p:txBody>
      </p:sp>
      <p:sp>
        <p:nvSpPr>
          <p:cNvPr id="19" name="Text 14"/>
          <p:cNvSpPr txBox="1"/>
          <p:nvPr/>
        </p:nvSpPr>
        <p:spPr>
          <a:xfrm>
            <a:off x="6080760" y="3017520"/>
            <a:ext cx="1737360" cy="274320"/>
          </a:xfrm>
          <a:prstGeom prst="rect">
            <a:avLst/>
          </a:prstGeom>
          <a:noFill/>
          <a:ln/>
        </p:spPr>
        <p:txBody>
          <a:bodyPr wrap="square" lIns="0" tIns="0" rIns="0" bIns="0" rtlCol="0" anchor="ctr"/>
          <a:lstStyle/>
          <a:p>
            <a:pPr indent="0" marL="0">
              <a:buNone/>
            </a:pPr>
            <a:r>
              <a:rPr lang="en-US" sz="1200" dirty="0">
                <a:solidFill>
                  <a:srgbClr val="2C4337"/>
                </a:solidFill>
                <a:latin typeface="Instrument Sans" pitchFamily="34" charset="0"/>
                <a:ea typeface="Instrument Sans" pitchFamily="34" charset="-122"/>
                <a:cs typeface="Instrument Sans" pitchFamily="34" charset="-120"/>
              </a:rPr>
              <a:t>pour votre bounty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100">
                <a:solidFill>
                  <a:srgbClr val="5B7366"/>
                </a:solidFill>
                <a:latin typeface="Instrument Sans"/>
                <a:ea typeface="Instrument Sans"/>
                <a:cs typeface="Instrument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502920"/>
            <a:ext cx="8229600" cy="1600200"/>
          </a:xfrm>
          <a:prstGeom prst="rect">
            <a:avLst/>
          </a:prstGeom>
          <a:noFill/>
          <a:ln/>
        </p:spPr>
        <p:txBody>
          <a:bodyPr wrap="square" lIns="0" tIns="0" rIns="0" bIns="0" rtlCol="0" anchor="ctr"/>
          <a:lstStyle/>
          <a:p>
            <a:pPr algn="ctr" indent="0" marL="0">
              <a:lnSpc>
                <a:spcPct val="95000"/>
              </a:lnSpc>
              <a:buNone/>
            </a:pPr>
            <a:r>
              <a:rPr lang="en-US" sz="4400" b="1" spc="-50" kern="0" dirty="0">
                <a:solidFill>
                  <a:srgbClr val="FFFFFF"/>
                </a:solidFill>
                <a:latin typeface="Bricolage Grotesque" pitchFamily="34" charset="0"/>
                <a:ea typeface="Bricolage Grotesque" pitchFamily="34" charset="-122"/>
                <a:cs typeface="Bricolage Grotesque" pitchFamily="34" charset="-120"/>
              </a:rPr>
              <a:t>Votre prochain contributeur</a:t>
            </a:r>
            <a:endParaRPr lang="en-US" sz="4400" dirty="0"/>
          </a:p>
          <a:p>
            <a:pPr algn="ctr" indent="0" marL="0">
              <a:lnSpc>
                <a:spcPct val="95000"/>
              </a:lnSpc>
              <a:buNone/>
            </a:pPr>
            <a:r>
              <a:rPr lang="en-US" sz="4400" b="1" spc="-50" kern="0" dirty="0">
                <a:solidFill>
                  <a:srgbClr val="FFFFFF"/>
                </a:solidFill>
                <a:latin typeface="Bricolage Grotesque" pitchFamily="34" charset="0"/>
                <a:ea typeface="Bricolage Grotesque" pitchFamily="34" charset="-122"/>
                <a:cs typeface="Bricolage Grotesque" pitchFamily="34" charset="-120"/>
              </a:rPr>
              <a:t>est à </a:t>
            </a:r>
            <a:pPr algn="ctr" indent="0" marL="0">
              <a:lnSpc>
                <a:spcPct val="95000"/>
              </a:lnSpc>
              <a:buNone/>
            </a:pPr>
            <a:r>
              <a:rPr lang="en-US" sz="4400" b="1" spc="-50" kern="0" dirty="0">
                <a:solidFill>
                  <a:srgbClr val="3CC77E"/>
                </a:solidFill>
                <a:latin typeface="Bricolage Grotesque" pitchFamily="34" charset="0"/>
                <a:ea typeface="Bricolage Grotesque" pitchFamily="34" charset="-122"/>
                <a:cs typeface="Bricolage Grotesque" pitchFamily="34" charset="-120"/>
              </a:rPr>
              <a:t>Dakar.</a:t>
            </a:r>
            <a:endParaRPr lang="en-US" sz="4400" dirty="0"/>
          </a:p>
        </p:txBody>
      </p:sp>
      <p:sp>
        <p:nvSpPr>
          <p:cNvPr id="3" name="Atout 1"/>
          <p:cNvSpPr/>
          <p:nvPr/>
        </p:nvSpPr>
        <p:spPr>
          <a:xfrm>
            <a:off x="1508760" y="2423160"/>
            <a:ext cx="685800" cy="685800"/>
          </a:xfrm>
          <a:prstGeom prst="ellipse">
            <a:avLst/>
          </a:prstGeom>
          <a:solidFill>
            <a:srgbClr val="13291F"/>
          </a:solidFill>
          <a:ln w="12700">
            <a:solidFill>
              <a:srgbClr val="2A4537"/>
            </a:solidFill>
            <a:prstDash val="solid"/>
          </a:ln>
        </p:spPr>
      </p:sp>
      <p:pic>
        <p:nvPicPr>
          <p:cNvPr id="4" name="Atout 1 icône" descr="preencoded.png">    </p:cNvPr>
          <p:cNvPicPr>
            <a:picLocks noChangeAspect="1"/>
          </p:cNvPicPr>
          <p:nvPr/>
        </p:nvPicPr>
        <p:blipFill>
          <a:blip r:embed="rId1"/>
          <a:stretch>
            <a:fillRect/>
          </a:stretch>
        </p:blipFill>
        <p:spPr>
          <a:xfrm>
            <a:off x="1700784" y="2615184"/>
            <a:ext cx="301752" cy="301752"/>
          </a:xfrm>
          <a:prstGeom prst="rect">
            <a:avLst/>
          </a:prstGeom>
        </p:spPr>
      </p:pic>
      <p:sp>
        <p:nvSpPr>
          <p:cNvPr id="5" name="Text 2"/>
          <p:cNvSpPr txBox="1"/>
          <p:nvPr/>
        </p:nvSpPr>
        <p:spPr>
          <a:xfrm>
            <a:off x="685800" y="3200400"/>
            <a:ext cx="2331720" cy="59436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Payé seulement</a:t>
            </a:r>
            <a:endParaRPr lang="en-US" sz="1400" dirty="0"/>
          </a:p>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si c'est mergé</a:t>
            </a:r>
            <a:endParaRPr lang="en-US" sz="1400" dirty="0"/>
          </a:p>
        </p:txBody>
      </p:sp>
      <p:sp>
        <p:nvSpPr>
          <p:cNvPr id="6" name="Atout 2"/>
          <p:cNvSpPr/>
          <p:nvPr/>
        </p:nvSpPr>
        <p:spPr>
          <a:xfrm>
            <a:off x="4206240" y="2423160"/>
            <a:ext cx="685800" cy="685800"/>
          </a:xfrm>
          <a:prstGeom prst="ellipse">
            <a:avLst/>
          </a:prstGeom>
          <a:solidFill>
            <a:srgbClr val="13291F"/>
          </a:solidFill>
          <a:ln w="12700">
            <a:solidFill>
              <a:srgbClr val="2A4537"/>
            </a:solidFill>
            <a:prstDash val="solid"/>
          </a:ln>
        </p:spPr>
      </p:sp>
      <p:pic>
        <p:nvPicPr>
          <p:cNvPr id="7" name="Atout 2 icône" descr="preencoded.png">    </p:cNvPr>
          <p:cNvPicPr>
            <a:picLocks noChangeAspect="1"/>
          </p:cNvPicPr>
          <p:nvPr/>
        </p:nvPicPr>
        <p:blipFill>
          <a:blip r:embed="rId2"/>
          <a:stretch>
            <a:fillRect/>
          </a:stretch>
        </p:blipFill>
        <p:spPr>
          <a:xfrm>
            <a:off x="4398264" y="2615184"/>
            <a:ext cx="301752" cy="301752"/>
          </a:xfrm>
          <a:prstGeom prst="rect">
            <a:avLst/>
          </a:prstGeom>
        </p:spPr>
      </p:pic>
      <p:sp>
        <p:nvSpPr>
          <p:cNvPr id="8" name="Text 4"/>
          <p:cNvSpPr txBox="1"/>
          <p:nvPr/>
        </p:nvSpPr>
        <p:spPr>
          <a:xfrm>
            <a:off x="3383280" y="3200400"/>
            <a:ext cx="2331720" cy="59436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Chaque tâche,</a:t>
            </a:r>
            <a:endParaRPr lang="en-US" sz="1400" dirty="0"/>
          </a:p>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une preuve de talent</a:t>
            </a:r>
            <a:endParaRPr lang="en-US" sz="1400" dirty="0"/>
          </a:p>
        </p:txBody>
      </p:sp>
      <p:sp>
        <p:nvSpPr>
          <p:cNvPr id="9" name="Atout 3"/>
          <p:cNvSpPr/>
          <p:nvPr/>
        </p:nvSpPr>
        <p:spPr>
          <a:xfrm>
            <a:off x="6903720" y="2423160"/>
            <a:ext cx="685800" cy="685800"/>
          </a:xfrm>
          <a:prstGeom prst="ellipse">
            <a:avLst/>
          </a:prstGeom>
          <a:solidFill>
            <a:srgbClr val="13291F"/>
          </a:solidFill>
          <a:ln w="12700">
            <a:solidFill>
              <a:srgbClr val="2A4537"/>
            </a:solidFill>
            <a:prstDash val="solid"/>
          </a:ln>
        </p:spPr>
      </p:sp>
      <p:pic>
        <p:nvPicPr>
          <p:cNvPr id="10" name="Atout 3 icône" descr="preencoded.png">    </p:cNvPr>
          <p:cNvPicPr>
            <a:picLocks noChangeAspect="1"/>
          </p:cNvPicPr>
          <p:nvPr/>
        </p:nvPicPr>
        <p:blipFill>
          <a:blip r:embed="rId3"/>
          <a:stretch>
            <a:fillRect/>
          </a:stretch>
        </p:blipFill>
        <p:spPr>
          <a:xfrm>
            <a:off x="7095744" y="2615184"/>
            <a:ext cx="301752" cy="301752"/>
          </a:xfrm>
          <a:prstGeom prst="rect">
            <a:avLst/>
          </a:prstGeom>
        </p:spPr>
      </p:pic>
      <p:sp>
        <p:nvSpPr>
          <p:cNvPr id="11" name="Text 6"/>
          <p:cNvSpPr txBox="1"/>
          <p:nvPr/>
        </p:nvSpPr>
        <p:spPr>
          <a:xfrm>
            <a:off x="6080760" y="3200400"/>
            <a:ext cx="2331720" cy="594360"/>
          </a:xfrm>
          <a:prstGeom prst="rect">
            <a:avLst/>
          </a:prstGeom>
          <a:noFill/>
          <a:ln/>
        </p:spPr>
        <p:txBody>
          <a:bodyPr wrap="square" lIns="0" tIns="0" rIns="0" bIns="0" rtlCol="0" anchor="ctr"/>
          <a:lstStyle/>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Les agents IA</a:t>
            </a:r>
            <a:endParaRPr lang="en-US" sz="1400" dirty="0"/>
          </a:p>
          <a:p>
            <a:pPr algn="ctr" indent="0" marL="0">
              <a:buNone/>
            </a:pPr>
            <a:r>
              <a:rPr lang="en-US" sz="1400" dirty="0">
                <a:solidFill>
                  <a:srgbClr val="9DC4AE"/>
                </a:solidFill>
                <a:latin typeface="Instrument Sans" pitchFamily="34" charset="0"/>
                <a:ea typeface="Instrument Sans" pitchFamily="34" charset="-122"/>
                <a:cs typeface="Instrument Sans" pitchFamily="34" charset="-120"/>
              </a:rPr>
              <a:t>peuvent financer</a:t>
            </a:r>
            <a:endParaRPr lang="en-US" sz="1400" dirty="0"/>
          </a:p>
        </p:txBody>
      </p:sp>
      <p:sp>
        <p:nvSpPr>
          <p:cNvPr id="12" name="Text 7"/>
          <p:cNvSpPr txBox="1"/>
          <p:nvPr/>
        </p:nvSpPr>
        <p:spPr>
          <a:xfrm>
            <a:off x="457200" y="4160520"/>
            <a:ext cx="82296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Instrument Sans" pitchFamily="34" charset="0"/>
                <a:ea typeface="Instrument Sans" pitchFamily="34" charset="-122"/>
                <a:cs typeface="Instrument Sans" pitchFamily="34" charset="-120"/>
              </a:rPr>
              <a:t>bitbounty-app.vercel.app</a:t>
            </a:r>
            <a:endParaRPr lang="en-US" sz="1400" dirty="0"/>
          </a:p>
        </p:txBody>
      </p:sp>
      <p:sp>
        <p:nvSpPr>
          <p:cNvPr id="13" name="Text 8"/>
          <p:cNvSpPr txBox="1"/>
          <p:nvPr/>
        </p:nvSpPr>
        <p:spPr>
          <a:xfrm>
            <a:off x="457200" y="4480560"/>
            <a:ext cx="8229600" cy="320040"/>
          </a:xfrm>
          <a:prstGeom prst="rect">
            <a:avLst/>
          </a:prstGeom>
          <a:noFill/>
          <a:ln/>
        </p:spPr>
        <p:txBody>
          <a:bodyPr wrap="square" lIns="0" tIns="0" rIns="0" bIns="0" rtlCol="0" anchor="ctr"/>
          <a:lstStyle/>
          <a:p>
            <a:pPr algn="ctr" indent="0" marL="0">
              <a:buNone/>
            </a:pPr>
            <a:r>
              <a:rPr lang="en-US" sz="1300" dirty="0">
                <a:solidFill>
                  <a:srgbClr val="9DC4AE"/>
                </a:solidFill>
                <a:latin typeface="Instrument Sans" pitchFamily="34" charset="0"/>
                <a:ea typeface="Instrument Sans" pitchFamily="34" charset="-122"/>
                <a:cs typeface="Instrument Sans" pitchFamily="34" charset="-120"/>
              </a:rPr>
              <a:t>Merci !</a:t>
            </a:r>
            <a:endParaRPr lang="en-US" sz="1300" dirty="0"/>
          </a:p>
        </p:txBody>
      </p:sp>
    </p:spTree>
  </p:cSld>
  <p:clrMapOvr>
    <a:masterClrMapping/>
  </p:clrMapOvr>
</p:sld>
</file>

<file path=ppt/theme/theme1.xml><?xml version="1.0" encoding="utf-8"?>
<a:theme xmlns:a="http://schemas.openxmlformats.org/drawingml/2006/main" name="BitBounty">
  <a:themeElements>
    <a:clrScheme name="BitBounty">
      <a:dk1>
        <a:srgbClr val="0B1F17"/>
      </a:dk1>
      <a:lt1>
        <a:srgbClr val="FFFFFF"/>
      </a:lt1>
      <a:dk2>
        <a:srgbClr val="13291F"/>
      </a:dk2>
      <a:lt2>
        <a:srgbClr val="F5F6F3"/>
      </a:lt2>
      <a:accent1>
        <a:srgbClr val="167A45"/>
      </a:accent1>
      <a:accent2>
        <a:srgbClr val="8250DF"/>
      </a:accent2>
      <a:accent3>
        <a:srgbClr val="F2A007"/>
      </a:accent3>
      <a:accent4>
        <a:srgbClr val="3CC77E"/>
      </a:accent4>
      <a:accent5>
        <a:srgbClr val="9DC4AE"/>
      </a:accent5>
      <a:accent6>
        <a:srgbClr val="2C4337"/>
      </a:accent6>
      <a:hlink>
        <a:srgbClr val="167A45"/>
      </a:hlink>
      <a:folHlink>
        <a:srgbClr val="5B7366"/>
      </a:folHlink>
    </a:clrScheme>
    <a:fontScheme name="BitBounty">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BitBounty</dc:title>
  <dc:subject>PptxGenJS Presentation</dc:subject>
  <dc:creator>Rafiatou</dc:creator>
  <cp:lastModifiedBy>Rafiatou</cp:lastModifiedBy>
  <cp:revision>1</cp:revision>
  <dcterms:created xsi:type="dcterms:W3CDTF">2026-10-18T12:18:48Z</dcterms:created>
  <dcterms:modified xsi:type="dcterms:W3CDTF">2026-10-18T12:18:48Z</dcterms:modified>
</cp:coreProperties>
</file>